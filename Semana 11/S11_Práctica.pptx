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9" r:id="rId10"/>
    <p:sldId id="264" r:id="rId11"/>
    <p:sldId id="273" r:id="rId12"/>
    <p:sldId id="270" r:id="rId13"/>
    <p:sldId id="271" r:id="rId14"/>
    <p:sldId id="272" r:id="rId15"/>
    <p:sldId id="265" r:id="rId16"/>
    <p:sldId id="274" r:id="rId17"/>
    <p:sldId id="267" r:id="rId18"/>
    <p:sldId id="266" r:id="rId19"/>
    <p:sldId id="268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F2349-662D-2285-F5CC-195147661881}" v="646" dt="2025-11-13T15:44:43.735"/>
    <p1510:client id="{A9FE656D-A21D-AF6F-C1CB-F3A10A650096}" v="469" dt="2025-11-14T03:47:02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Primer plano de una rayuela en la acera">
            <a:extLst>
              <a:ext uri="{FF2B5EF4-FFF2-40B4-BE49-F238E27FC236}">
                <a16:creationId xmlns:a16="http://schemas.microsoft.com/office/drawing/2014/main" id="{1435C9A4-D994-63DA-6906-1A04FA1FB9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591" r="-2" b="8073"/>
          <a:stretch>
            <a:fillRect/>
          </a:stretch>
        </p:blipFill>
        <p:spPr>
          <a:xfrm>
            <a:off x="9200" y="10"/>
            <a:ext cx="12191979" cy="6857990"/>
          </a:xfrm>
          <a:prstGeom prst="rect">
            <a:avLst/>
          </a:prstGeom>
        </p:spPr>
      </p:pic>
      <p:sp>
        <p:nvSpPr>
          <p:cNvPr id="20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351663" y="2569627"/>
            <a:ext cx="3944756" cy="786530"/>
          </a:xfrm>
        </p:spPr>
        <p:txBody>
          <a:bodyPr anchor="t">
            <a:noAutofit/>
          </a:bodyPr>
          <a:lstStyle/>
          <a:p>
            <a:pPr algn="l"/>
            <a:r>
              <a:rPr lang="es-ES" sz="5400">
                <a:solidFill>
                  <a:srgbClr val="FFFFFF"/>
                </a:solidFill>
              </a:rPr>
              <a:t>S11_Practica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04561" y="5652187"/>
            <a:ext cx="6295332" cy="5878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ES" sz="1800">
                <a:solidFill>
                  <a:srgbClr val="FFFFFF"/>
                </a:solidFill>
                <a:latin typeface="Matura MT Script Capitals"/>
              </a:rPr>
              <a:t>BREÑA QUISPE Megam Briyit</a:t>
            </a:r>
          </a:p>
        </p:txBody>
      </p:sp>
      <p:cxnSp>
        <p:nvCxnSpPr>
          <p:cNvPr id="22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B3E96-A718-97C0-18C5-D12DDDF3F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816" y="301625"/>
            <a:ext cx="10515600" cy="11050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Actividad</a:t>
            </a:r>
          </a:p>
          <a:p>
            <a:pPr marL="0" indent="0">
              <a:buNone/>
            </a:pPr>
            <a:r>
              <a:rPr lang="es-ES" sz="1600" dirty="0"/>
              <a:t>Responda con claridad y precisión cada uno de los siguientes ejercicios prácticos.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8C039F-C99D-0D4B-F6EB-714C7CE33604}"/>
              </a:ext>
            </a:extLst>
          </p:cNvPr>
          <p:cNvSpPr txBox="1"/>
          <p:nvPr/>
        </p:nvSpPr>
        <p:spPr>
          <a:xfrm>
            <a:off x="1252603" y="1200411"/>
            <a:ext cx="1032353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dirty="0">
              <a:ea typeface="+mn-lt"/>
              <a:cs typeface="+mn-lt"/>
            </a:endParaRPr>
          </a:p>
          <a:p>
            <a:r>
              <a:rPr lang="es-ES" b="1" u="sng" dirty="0">
                <a:ea typeface="+mn-lt"/>
                <a:cs typeface="+mn-lt"/>
              </a:rPr>
              <a:t>Proyecto 1: Autenticación: Comparación segura y configuración de logins</a:t>
            </a:r>
            <a:endParaRPr lang="es-ES" b="1" u="sng"/>
          </a:p>
          <a:p>
            <a:r>
              <a:rPr lang="es-ES" b="1" dirty="0">
                <a:highlight>
                  <a:srgbClr val="FFFF00"/>
                </a:highlight>
                <a:ea typeface="+mn-lt"/>
                <a:cs typeface="+mn-lt"/>
              </a:rPr>
              <a:t>1. Enunciado del ejercicio</a:t>
            </a:r>
            <a:endParaRPr lang="es-ES" b="1" dirty="0">
              <a:highlight>
                <a:srgbClr val="FFFF00"/>
              </a:highlight>
            </a:endParaRPr>
          </a:p>
          <a:p>
            <a:r>
              <a:rPr lang="es-ES" dirty="0">
                <a:ea typeface="+mn-lt"/>
                <a:cs typeface="+mn-lt"/>
              </a:rPr>
              <a:t>Crear en el servidor dos </a:t>
            </a:r>
            <a:r>
              <a:rPr lang="es-ES" err="1">
                <a:ea typeface="+mn-lt"/>
                <a:cs typeface="+mn-lt"/>
              </a:rPr>
              <a:t>logins</a:t>
            </a:r>
            <a:r>
              <a:rPr lang="es-ES" dirty="0">
                <a:ea typeface="+mn-lt"/>
                <a:cs typeface="+mn-lt"/>
              </a:rPr>
              <a:t> de prueba: uno con autenticación SQL (</a:t>
            </a:r>
            <a:r>
              <a:rPr lang="es-ES" err="1">
                <a:ea typeface="+mn-lt"/>
                <a:cs typeface="+mn-lt"/>
              </a:rPr>
              <a:t>login_sql_alumno</a:t>
            </a:r>
            <a:r>
              <a:rPr lang="es-ES" dirty="0">
                <a:ea typeface="+mn-lt"/>
                <a:cs typeface="+mn-lt"/>
              </a:rPr>
              <a:t>) y otro que represente un usuario Windows (DOMAIN\</a:t>
            </a:r>
            <a:r>
              <a:rPr lang="es-ES" err="1">
                <a:ea typeface="+mn-lt"/>
                <a:cs typeface="+mn-lt"/>
              </a:rPr>
              <a:t>alumno_win</a:t>
            </a:r>
            <a:r>
              <a:rPr lang="es-ES" dirty="0">
                <a:ea typeface="+mn-lt"/>
                <a:cs typeface="+mn-lt"/>
              </a:rPr>
              <a:t> simulado), aplicar políticas de contraseñas y mapear ambos a usuarios en la base </a:t>
            </a:r>
            <a:r>
              <a:rPr lang="es-ES" err="1">
                <a:ea typeface="+mn-lt"/>
                <a:cs typeface="+mn-lt"/>
              </a:rPr>
              <a:t>QhatuPeru</a:t>
            </a:r>
            <a:r>
              <a:rPr lang="es-ES" dirty="0">
                <a:ea typeface="+mn-lt"/>
                <a:cs typeface="+mn-lt"/>
              </a:rPr>
              <a:t>. Mostrar cómo forzar expiración y comprobar la política de contraseñas.</a:t>
            </a:r>
          </a:p>
          <a:p>
            <a:endParaRPr lang="es-ES" dirty="0"/>
          </a:p>
          <a:p>
            <a:r>
              <a:rPr lang="es-ES" b="1" dirty="0">
                <a:highlight>
                  <a:srgbClr val="FFFF00"/>
                </a:highlight>
              </a:rPr>
              <a:t>2. Script de la solución en T-SQL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s-ES" dirty="0">
                <a:ea typeface="+mn-lt"/>
                <a:cs typeface="+mn-lt"/>
              </a:rPr>
              <a:t>Verifica el contexto del servidor SQL</a:t>
            </a:r>
            <a:endParaRPr lang="es-ES" dirty="0"/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SELECT SYSTEM_USER AS </a:t>
            </a:r>
            <a:r>
              <a:rPr lang="es-ES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UsuarioActual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HOST_NAME() AS Equipo;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3852F16-0B37-FA06-652E-7B84647D5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559" y="4453068"/>
            <a:ext cx="56959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6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E276-D734-0D6B-EDDB-4CC13A45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80340" cy="1816165"/>
          </a:xfrm>
        </p:spPr>
        <p:txBody>
          <a:bodyPr>
            <a:normAutofit/>
          </a:bodyPr>
          <a:lstStyle/>
          <a:p>
            <a:r>
              <a:rPr lang="es-ES" sz="1600" dirty="0">
                <a:ea typeface="+mj-lt"/>
                <a:cs typeface="+mj-lt"/>
              </a:rPr>
              <a:t>Crea un </a:t>
            </a:r>
            <a:r>
              <a:rPr lang="es-ES" sz="1600" err="1">
                <a:ea typeface="+mj-lt"/>
                <a:cs typeface="+mj-lt"/>
              </a:rPr>
              <a:t>login</a:t>
            </a:r>
            <a:r>
              <a:rPr lang="es-ES" sz="1600" dirty="0">
                <a:ea typeface="+mj-lt"/>
                <a:cs typeface="+mj-lt"/>
              </a:rPr>
              <a:t> de Windows válido</a:t>
            </a:r>
            <a:br>
              <a:rPr lang="es-ES" sz="1600" dirty="0">
                <a:ea typeface="+mj-lt"/>
                <a:cs typeface="+mj-lt"/>
              </a:rPr>
            </a:b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CREATE LOGIN [lab04-pc18\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user</a:t>
            </a: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1] FROM WINDOWS;</a:t>
            </a:r>
            <a:endParaRPr lang="es-ES" sz="16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GO</a:t>
            </a:r>
            <a:br>
              <a:rPr lang="es-ES" sz="20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</a:br>
            <a:endParaRPr lang="es-ES" b="1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endParaRPr lang="es-ES" sz="2000" dirty="0">
              <a:ea typeface="+mj-lt"/>
              <a:cs typeface="+mj-lt"/>
            </a:endParaRP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B214260-A999-2488-BB43-FE601C92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1" y="1275567"/>
            <a:ext cx="5825256" cy="264716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2FB6B-5DE2-C455-E84D-904DDDA64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14" y="5145022"/>
            <a:ext cx="10515600" cy="969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800" b="1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D0CFC1-2F0F-FEBC-8B53-255B85C175DF}"/>
              </a:ext>
            </a:extLst>
          </p:cNvPr>
          <p:cNvSpPr txBox="1"/>
          <p:nvPr/>
        </p:nvSpPr>
        <p:spPr>
          <a:xfrm>
            <a:off x="7098082" y="365342"/>
            <a:ext cx="440498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ea typeface="+mn-lt"/>
                <a:cs typeface="+mn-lt"/>
              </a:rPr>
              <a:t>Crear el </a:t>
            </a:r>
            <a:r>
              <a:rPr lang="es-ES" b="1" err="1">
                <a:ea typeface="+mn-lt"/>
                <a:cs typeface="+mn-lt"/>
              </a:rPr>
              <a:t>login</a:t>
            </a:r>
            <a:r>
              <a:rPr lang="es-ES" b="1" dirty="0">
                <a:ea typeface="+mn-lt"/>
                <a:cs typeface="+mn-lt"/>
              </a:rPr>
              <a:t> SQL con políticas de contraseña</a:t>
            </a: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CREATE LOGIN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login_sql_alumno</a:t>
            </a:r>
            <a:endParaRPr lang="es-ES" err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WITH PASSWORD = 'Contraseña#Segura2025',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  CHECK_POLICY = ON,        -- Aplica política de complejidad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  CHECK_EXPIRATION = ON,    -- La contraseña expira según las políticas del sistema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  DEFAULT_DATABASE =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QhatuPeru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endParaRPr lang="es-ES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9E2434-BA1B-8AE2-5352-7B429663D00E}"/>
              </a:ext>
            </a:extLst>
          </p:cNvPr>
          <p:cNvSpPr txBox="1"/>
          <p:nvPr/>
        </p:nvSpPr>
        <p:spPr>
          <a:xfrm>
            <a:off x="647178" y="4060521"/>
            <a:ext cx="594986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 dirty="0">
                <a:ea typeface="+mn-lt"/>
                <a:cs typeface="+mn-lt"/>
              </a:rPr>
              <a:t>Mapear ambos </a:t>
            </a:r>
            <a:r>
              <a:rPr lang="es-ES" sz="1400" b="1" err="1">
                <a:ea typeface="+mn-lt"/>
                <a:cs typeface="+mn-lt"/>
              </a:rPr>
              <a:t>logins</a:t>
            </a:r>
            <a:r>
              <a:rPr lang="es-ES" sz="1400" b="1" dirty="0">
                <a:ea typeface="+mn-lt"/>
                <a:cs typeface="+mn-lt"/>
              </a:rPr>
              <a:t> (Windows y SQL) a usuarios dentro de la base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QhatuPeru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14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Usuario mapeado al login SQL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CREATE USER 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usuario_sql_alumno</a:t>
            </a:r>
            <a:endParaRPr lang="es-ES" sz="14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FOR LOGIN 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login_sql_alumno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Usuario mapeado al login de Windows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CREATE USER 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usuario_win_alumno</a:t>
            </a:r>
            <a:endParaRPr lang="es-ES" sz="1400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FOR LOGIN [LAB04-PC18\user17];</a:t>
            </a:r>
          </a:p>
          <a:p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</a:p>
          <a:p>
            <a:endParaRPr lang="es-ES" sz="14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596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F0F4D-FC8B-79FD-05E5-9BC13D3C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766" y="190691"/>
            <a:ext cx="10515600" cy="1435732"/>
          </a:xfrm>
        </p:spPr>
        <p:txBody>
          <a:bodyPr>
            <a:normAutofit/>
          </a:bodyPr>
          <a:lstStyle/>
          <a:p>
            <a:r>
              <a:rPr lang="es-ES" sz="1600" dirty="0">
                <a:ea typeface="+mj-lt"/>
                <a:cs typeface="+mj-lt"/>
              </a:rPr>
              <a:t>Comprobar la política de contraseñas</a:t>
            </a:r>
            <a:br>
              <a:rPr lang="es-ES" sz="1600" dirty="0">
                <a:ea typeface="+mj-lt"/>
                <a:cs typeface="+mj-lt"/>
              </a:rPr>
            </a:b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SELECT 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name</a:t>
            </a: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, 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is_policy_checked</a:t>
            </a: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, 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is_expiration_checked</a:t>
            </a:r>
            <a:endParaRPr lang="es-ES" sz="16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FROM 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sys.sql_logins</a:t>
            </a:r>
            <a:endParaRPr lang="es-ES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WHERE 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name</a:t>
            </a: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= '</a:t>
            </a:r>
            <a:r>
              <a:rPr lang="es-ES" sz="1600" err="1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login_sql_alumno</a:t>
            </a:r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';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160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GO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endParaRPr lang="es-ES" sz="1600" dirty="0">
              <a:ea typeface="+mj-lt"/>
              <a:cs typeface="+mj-lt"/>
            </a:endParaRPr>
          </a:p>
        </p:txBody>
      </p:sp>
      <p:pic>
        <p:nvPicPr>
          <p:cNvPr id="4" name="Marcador de contenido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1B6AFF2-110E-8761-2043-BBE63444C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8193" y="191868"/>
            <a:ext cx="4723711" cy="14402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EC77FBC-5E79-B795-038D-DC0A4BDB1614}"/>
              </a:ext>
            </a:extLst>
          </p:cNvPr>
          <p:cNvSpPr txBox="1"/>
          <p:nvPr/>
        </p:nvSpPr>
        <p:spPr>
          <a:xfrm>
            <a:off x="730685" y="1795396"/>
            <a:ext cx="991643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u="sng" dirty="0">
                <a:highlight>
                  <a:srgbClr val="FFFF00"/>
                </a:highlight>
                <a:ea typeface="+mn-lt"/>
                <a:cs typeface="+mn-lt"/>
              </a:rPr>
              <a:t>3. Justificación técnica de la solución aplicada</a:t>
            </a:r>
            <a:endParaRPr lang="es-ES" u="sng" dirty="0">
              <a:highlight>
                <a:srgbClr val="FFFF00"/>
              </a:highlight>
            </a:endParaRP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Creación de </a:t>
            </a:r>
            <a:r>
              <a:rPr lang="es-ES" b="1" dirty="0" err="1">
                <a:ea typeface="+mn-lt"/>
                <a:cs typeface="+mn-lt"/>
              </a:rPr>
              <a:t>logins</a:t>
            </a:r>
            <a:r>
              <a:rPr lang="es-ES" b="1" dirty="0">
                <a:ea typeface="+mn-lt"/>
                <a:cs typeface="+mn-lt"/>
              </a:rPr>
              <a:t> diferenciados según tipo de autenticación: </a:t>
            </a:r>
            <a:r>
              <a:rPr lang="es-ES" dirty="0">
                <a:ea typeface="+mn-lt"/>
                <a:cs typeface="+mn-lt"/>
              </a:rPr>
              <a:t>Se creó un </a:t>
            </a:r>
            <a:r>
              <a:rPr lang="es-ES" dirty="0" err="1">
                <a:ea typeface="+mn-lt"/>
                <a:cs typeface="+mn-lt"/>
              </a:rPr>
              <a:t>login</a:t>
            </a:r>
            <a:r>
              <a:rPr lang="es-ES" dirty="0">
                <a:ea typeface="+mn-lt"/>
                <a:cs typeface="+mn-lt"/>
              </a:rPr>
              <a:t> de SQL Server (</a:t>
            </a:r>
            <a:r>
              <a:rPr lang="es-ES" dirty="0" err="1">
                <a:latin typeface="Consolas"/>
              </a:rPr>
              <a:t>login_sql_alumno</a:t>
            </a:r>
            <a:r>
              <a:rPr lang="es-ES" dirty="0">
                <a:ea typeface="+mn-lt"/>
                <a:cs typeface="+mn-lt"/>
              </a:rPr>
              <a:t>) con contraseña y políticas de seguridad activadas.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Se creó un </a:t>
            </a:r>
            <a:r>
              <a:rPr lang="es-ES" dirty="0" err="1">
                <a:ea typeface="+mn-lt"/>
                <a:cs typeface="+mn-lt"/>
              </a:rPr>
              <a:t>login</a:t>
            </a:r>
            <a:r>
              <a:rPr lang="es-ES" dirty="0">
                <a:ea typeface="+mn-lt"/>
                <a:cs typeface="+mn-lt"/>
              </a:rPr>
              <a:t> de Windows (</a:t>
            </a:r>
            <a:r>
              <a:rPr lang="es-ES" dirty="0">
                <a:latin typeface="Consolas"/>
              </a:rPr>
              <a:t>LAB04-PC18\</a:t>
            </a:r>
            <a:r>
              <a:rPr lang="es-ES" dirty="0" err="1">
                <a:latin typeface="Consolas"/>
              </a:rPr>
              <a:t>alumno_win</a:t>
            </a:r>
            <a:r>
              <a:rPr lang="es-ES" dirty="0">
                <a:ea typeface="+mn-lt"/>
                <a:cs typeface="+mn-lt"/>
              </a:rPr>
              <a:t>) para simular la integración con autenticación de sistema operativo o dominio.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Esto permite separar claramente los mecanismos de autenticación y garantiza que cada tipo de usuario se gestione según su contexto.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Aplicación de políticas de contraseña y expiración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La contraseña del login SQL se configuró con </a:t>
            </a:r>
            <a:r>
              <a:rPr lang="es-ES" dirty="0">
                <a:latin typeface="Consolas"/>
              </a:rPr>
              <a:t>CHECK_POLICY = ON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dirty="0">
                <a:latin typeface="Consolas"/>
              </a:rPr>
              <a:t>CHECK_EXPIRATION = ON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Se forzó la expiración con </a:t>
            </a:r>
            <a:r>
              <a:rPr lang="es-ES" dirty="0">
                <a:latin typeface="Consolas"/>
              </a:rPr>
              <a:t>MUST_CHANGE</a:t>
            </a:r>
            <a:r>
              <a:rPr lang="es-ES" dirty="0">
                <a:ea typeface="+mn-lt"/>
                <a:cs typeface="+mn-lt"/>
              </a:rPr>
              <a:t> para probar el ciclo de seguridad de contraseñas.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Esto asegura que las contraseñas cumplan con la complejidad mínima y que se renueven periódicamente, reduciendo riesgos de seguridad.</a:t>
            </a:r>
            <a:endParaRPr lang="es-ES"/>
          </a:p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814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FBADD-19F4-6685-5D14-6C66886B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-208985"/>
            <a:ext cx="10515600" cy="463452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s-ES" sz="1800" b="1" dirty="0">
              <a:latin typeface="Aptos"/>
            </a:endParaRPr>
          </a:p>
          <a:p>
            <a:r>
              <a:rPr lang="es-ES" sz="1800" b="1" dirty="0">
                <a:highlight>
                  <a:srgbClr val="FFFF00"/>
                </a:highlight>
                <a:latin typeface="Aptos"/>
              </a:rPr>
              <a:t>4. Explicación de las buenas prácticas utilizadas en el proyecto</a:t>
            </a:r>
            <a:br>
              <a:rPr lang="es-ES" sz="1800" b="1" dirty="0">
                <a:highlight>
                  <a:srgbClr val="FFFF00"/>
                </a:highlight>
                <a:latin typeface="Aptos"/>
              </a:rPr>
            </a:br>
            <a:r>
              <a:rPr lang="es-ES" sz="1800" b="1" dirty="0">
                <a:ea typeface="+mj-lt"/>
                <a:cs typeface="+mj-lt"/>
              </a:rPr>
              <a:t>Separación de </a:t>
            </a:r>
            <a:r>
              <a:rPr lang="es-ES" sz="1800" b="1" err="1">
                <a:ea typeface="+mj-lt"/>
                <a:cs typeface="+mj-lt"/>
              </a:rPr>
              <a:t>logins</a:t>
            </a:r>
            <a:r>
              <a:rPr lang="es-ES" sz="1800" b="1" dirty="0">
                <a:ea typeface="+mj-lt"/>
                <a:cs typeface="+mj-lt"/>
              </a:rPr>
              <a:t> y usuarios de base de datos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+mj-lt"/>
                <a:ea typeface="+mj-lt"/>
                <a:cs typeface="+mj-lt"/>
              </a:rPr>
              <a:t>Mantener la autenticación a nivel de servidor (</a:t>
            </a:r>
            <a:r>
              <a:rPr lang="es-ES" dirty="0">
                <a:latin typeface="Consolas"/>
              </a:rPr>
              <a:t>LOGIN</a:t>
            </a:r>
            <a:r>
              <a:rPr lang="es-ES" dirty="0">
                <a:latin typeface="+mj-lt"/>
                <a:ea typeface="+mj-lt"/>
                <a:cs typeface="+mj-lt"/>
              </a:rPr>
              <a:t>) y el acceso a nivel de base (</a:t>
            </a:r>
            <a:r>
              <a:rPr lang="es-ES" dirty="0">
                <a:latin typeface="Consolas"/>
              </a:rPr>
              <a:t>USER</a:t>
            </a:r>
            <a:r>
              <a:rPr lang="es-ES" dirty="0">
                <a:latin typeface="+mj-lt"/>
                <a:ea typeface="+mj-lt"/>
                <a:cs typeface="+mj-lt"/>
              </a:rPr>
              <a:t>) separados permite controlar permisos de manera granular y segura.</a:t>
            </a:r>
            <a:endParaRPr lang="es-ES"/>
          </a:p>
          <a:p>
            <a:r>
              <a:rPr lang="es-ES" sz="1800" b="1" dirty="0">
                <a:ea typeface="+mj-lt"/>
                <a:cs typeface="+mj-lt"/>
              </a:rPr>
              <a:t>Uso de políticas de contraseña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Consolas"/>
              </a:rPr>
              <a:t>CHECK_POLICY</a:t>
            </a:r>
            <a:r>
              <a:rPr lang="es-ES" dirty="0">
                <a:latin typeface="+mj-lt"/>
                <a:ea typeface="+mj-lt"/>
                <a:cs typeface="+mj-lt"/>
              </a:rPr>
              <a:t> y </a:t>
            </a:r>
            <a:r>
              <a:rPr lang="es-ES" dirty="0">
                <a:latin typeface="Consolas"/>
              </a:rPr>
              <a:t>CHECK_EXPIRATION</a:t>
            </a:r>
            <a:r>
              <a:rPr lang="es-ES" dirty="0">
                <a:latin typeface="+mj-lt"/>
                <a:ea typeface="+mj-lt"/>
                <a:cs typeface="+mj-lt"/>
              </a:rPr>
              <a:t> garantizan que las contraseñas cumplan con estándares de seguridad y se renueven periódicamente.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Consolas"/>
              </a:rPr>
              <a:t>MUST_CHANGE</a:t>
            </a:r>
            <a:r>
              <a:rPr lang="es-ES" dirty="0">
                <a:latin typeface="+mj-lt"/>
                <a:ea typeface="+mj-lt"/>
                <a:cs typeface="+mj-lt"/>
              </a:rPr>
              <a:t> permite simular y probar la expiración obligatoria, fomentando hábitos seguros de gestión de contraseñas.</a:t>
            </a:r>
            <a:endParaRPr lang="es-ES"/>
          </a:p>
          <a:p>
            <a:r>
              <a:rPr lang="es-ES" sz="1800" b="1" dirty="0">
                <a:ea typeface="+mj-lt"/>
                <a:cs typeface="+mj-lt"/>
              </a:rPr>
              <a:t>Validación de existencia antes de crear objetos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+mj-lt"/>
                <a:ea typeface="+mj-lt"/>
                <a:cs typeface="+mj-lt"/>
              </a:rPr>
              <a:t>Se utilizaron </a:t>
            </a:r>
            <a:r>
              <a:rPr lang="es-ES" dirty="0">
                <a:latin typeface="Consolas"/>
              </a:rPr>
              <a:t>IF EXISTS</a:t>
            </a:r>
            <a:r>
              <a:rPr lang="es-ES" dirty="0">
                <a:latin typeface="+mj-lt"/>
                <a:ea typeface="+mj-lt"/>
                <a:cs typeface="+mj-lt"/>
              </a:rPr>
              <a:t> y </a:t>
            </a:r>
            <a:r>
              <a:rPr lang="es-ES" dirty="0">
                <a:latin typeface="Consolas"/>
              </a:rPr>
              <a:t>IF NOT EXISTS</a:t>
            </a:r>
            <a:r>
              <a:rPr lang="es-ES" dirty="0">
                <a:latin typeface="+mj-lt"/>
                <a:ea typeface="+mj-lt"/>
                <a:cs typeface="+mj-lt"/>
              </a:rPr>
              <a:t> para evitar errores de creación de usuarios o </a:t>
            </a:r>
            <a:r>
              <a:rPr lang="es-ES" dirty="0" err="1">
                <a:latin typeface="+mj-lt"/>
                <a:ea typeface="+mj-lt"/>
                <a:cs typeface="+mj-lt"/>
              </a:rPr>
              <a:t>logins</a:t>
            </a:r>
            <a:r>
              <a:rPr lang="es-ES" dirty="0">
                <a:latin typeface="+mj-lt"/>
                <a:ea typeface="+mj-lt"/>
                <a:cs typeface="+mj-lt"/>
              </a:rPr>
              <a:t> que ya existen.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+mj-lt"/>
                <a:ea typeface="+mj-lt"/>
                <a:cs typeface="+mj-lt"/>
              </a:rPr>
              <a:t>Esto asegura que los scripts sean </a:t>
            </a:r>
            <a:r>
              <a:rPr lang="es-ES" b="1" dirty="0">
                <a:latin typeface="+mj-lt"/>
                <a:ea typeface="+mj-lt"/>
                <a:cs typeface="+mj-lt"/>
              </a:rPr>
              <a:t>idempotentes</a:t>
            </a:r>
            <a:r>
              <a:rPr lang="es-ES" dirty="0">
                <a:latin typeface="+mj-lt"/>
                <a:ea typeface="+mj-lt"/>
                <a:cs typeface="+mj-lt"/>
              </a:rPr>
              <a:t> y puedan ejecutarse varias veces sin fallar.</a:t>
            </a:r>
            <a:endParaRPr lang="es-ES"/>
          </a:p>
          <a:p>
            <a:r>
              <a:rPr lang="es-ES" sz="1800" b="1" dirty="0">
                <a:ea typeface="+mj-lt"/>
                <a:cs typeface="+mj-lt"/>
              </a:rPr>
              <a:t>Simulación de usuarios de Windows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+mj-lt"/>
                <a:ea typeface="+mj-lt"/>
                <a:cs typeface="+mj-lt"/>
              </a:rPr>
              <a:t>Usar un </a:t>
            </a:r>
            <a:r>
              <a:rPr lang="es-ES" dirty="0" err="1">
                <a:latin typeface="+mj-lt"/>
                <a:ea typeface="+mj-lt"/>
                <a:cs typeface="+mj-lt"/>
              </a:rPr>
              <a:t>login</a:t>
            </a:r>
            <a:r>
              <a:rPr lang="es-ES" dirty="0">
                <a:latin typeface="+mj-lt"/>
                <a:ea typeface="+mj-lt"/>
                <a:cs typeface="+mj-lt"/>
              </a:rPr>
              <a:t> de Windows real o simulado permite practicar escenarios de integración con dominios y autenticación externa, acercando la práctica a entornos reales.</a:t>
            </a:r>
            <a:endParaRPr lang="es-ES"/>
          </a:p>
          <a:p>
            <a:r>
              <a:rPr lang="es-ES" sz="1800" b="1" dirty="0">
                <a:ea typeface="+mj-lt"/>
                <a:cs typeface="+mj-lt"/>
              </a:rPr>
              <a:t>Documentación y trazabilidad</a:t>
            </a:r>
            <a:endParaRPr lang="es-ES"/>
          </a:p>
          <a:p>
            <a:pPr marL="285750" lvl="1" indent="-285750">
              <a:spcBef>
                <a:spcPts val="0"/>
              </a:spcBef>
              <a:buFont typeface="Arial"/>
              <a:buChar char="•"/>
            </a:pPr>
            <a:r>
              <a:rPr lang="es-ES" dirty="0">
                <a:latin typeface="+mj-lt"/>
                <a:ea typeface="+mj-lt"/>
                <a:cs typeface="+mj-lt"/>
              </a:rPr>
              <a:t>Cada paso del script está comentado y justificado, lo que facilita mantenimiento y auditoría de seguridad.</a:t>
            </a:r>
            <a:endParaRPr lang="es-ES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ES" sz="1800" b="1" dirty="0">
              <a:latin typeface="Aptos"/>
            </a:endParaRP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29565633-C83A-DFE3-C990-77C82C648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108" y="4173059"/>
            <a:ext cx="3865454" cy="217574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2285879-0DE6-914B-95B7-8D61F31ADAD3}"/>
              </a:ext>
            </a:extLst>
          </p:cNvPr>
          <p:cNvSpPr txBox="1"/>
          <p:nvPr/>
        </p:nvSpPr>
        <p:spPr>
          <a:xfrm>
            <a:off x="1116903" y="4175343"/>
            <a:ext cx="506260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Resultado Esperado:</a:t>
            </a: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QhatuPeru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Lista todos los usuarios de la base de datos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SELECT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name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AS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UsuarioBD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type_desc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AS Tipo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FROM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sys.database_principals</a:t>
            </a:r>
            <a:endParaRPr lang="es-ES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WHERE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type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IN ('S','U');  -- S = SQL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user</a:t>
            </a:r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, U = Windows </a:t>
            </a:r>
            <a:r>
              <a:rPr lang="es-ES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user</a:t>
            </a:r>
            <a:endParaRPr lang="es-ES" err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186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7BA159-6931-79A5-DF94-DB2728474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48" y="32250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/>
              <a:t>Proyecto 2: Cuentas de servicio y configuración segura del servidor</a:t>
            </a:r>
            <a:endParaRPr lang="es-ES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highlight>
                  <a:srgbClr val="FFFF00"/>
                </a:highlight>
              </a:rPr>
              <a:t>1. Enunciado del ejercicio</a:t>
            </a:r>
            <a:endParaRPr lang="es-ES" sz="1800" b="1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dirty="0"/>
              <a:t>Revisar y documentar la configuración de parámetros de servidor segura para </a:t>
            </a:r>
            <a:r>
              <a:rPr lang="es-ES" sz="1800" dirty="0" err="1"/>
              <a:t>QhatuPeru</a:t>
            </a:r>
            <a:r>
              <a:rPr lang="es-ES" sz="1800" dirty="0"/>
              <a:t>: deshabilitar </a:t>
            </a:r>
            <a:r>
              <a:rPr lang="es-ES" sz="1800" dirty="0" err="1"/>
              <a:t>xp_cmdshell</a:t>
            </a:r>
            <a:r>
              <a:rPr lang="es-ES" sz="1800" dirty="0"/>
              <a:t>, revisar </a:t>
            </a:r>
            <a:r>
              <a:rPr lang="es-ES" sz="1800" dirty="0" err="1"/>
              <a:t>contained</a:t>
            </a:r>
            <a:r>
              <a:rPr lang="es-ES" sz="1800" dirty="0"/>
              <a:t> </a:t>
            </a:r>
            <a:r>
              <a:rPr lang="es-ES" sz="1800" dirty="0" err="1"/>
              <a:t>database</a:t>
            </a:r>
            <a:r>
              <a:rPr lang="es-ES" sz="1800" dirty="0"/>
              <a:t> </a:t>
            </a:r>
            <a:r>
              <a:rPr lang="es-ES" sz="1800" dirty="0" err="1"/>
              <a:t>authentication</a:t>
            </a:r>
            <a:r>
              <a:rPr lang="es-ES" sz="1800" dirty="0"/>
              <a:t>, y crear una credencial + proxy para uso con SQL </a:t>
            </a:r>
            <a:r>
              <a:rPr lang="es-ES" sz="1800" dirty="0" err="1"/>
              <a:t>Agent</a:t>
            </a:r>
            <a:r>
              <a:rPr lang="es-ES" sz="1800" dirty="0"/>
              <a:t> </a:t>
            </a:r>
            <a:r>
              <a:rPr lang="es-ES" sz="1800" dirty="0" err="1"/>
              <a:t>jobs</a:t>
            </a:r>
            <a:r>
              <a:rPr lang="es-ES" sz="1800" dirty="0"/>
              <a:t> que necesiten acceso al OS.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highlight>
                  <a:srgbClr val="FFFF00"/>
                </a:highlight>
              </a:rPr>
              <a:t>2. Script de la solución en T-SQL</a:t>
            </a:r>
            <a:endParaRPr lang="en-US" sz="1800" b="1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800" b="1" dirty="0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800" dirty="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5458C00F-72F5-EC59-3BF1-94F9A7E3A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78" y="2318097"/>
            <a:ext cx="3754286" cy="424684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10A6C25-C68C-CC2E-DECA-60297D2A81F1}"/>
              </a:ext>
            </a:extLst>
          </p:cNvPr>
          <p:cNvSpPr txBox="1"/>
          <p:nvPr/>
        </p:nvSpPr>
        <p:spPr>
          <a:xfrm>
            <a:off x="4530246" y="2181617"/>
            <a:ext cx="676405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-- 1️⃣ Deshabilitar </a:t>
            </a:r>
            <a:r>
              <a:rPr lang="es-ES" sz="9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xp_cmdshell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(no permitimos ejecución de comandos OS)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sp_configure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'show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advanced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options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 1;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RECONFIGURE;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sp_configure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'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xp_cmdshell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 0;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RECONFIGURE;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-- 2️⃣ Revisar configuración de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Contained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Databases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sp_configure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'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contained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database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authentication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-- 3️⃣ Crear una credencial para SQL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Agent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Job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Esta credencial representa un usuario del sistema operativo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master;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CREATE CREDENTIAL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credencial_qhatu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WITH IDENTITY = 'LAB04-PC18\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usuario_job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  -- Usuario del OS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SECRET = 'Contraseña#Segura2025';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-- 4️⃣ Crear un proxy que use la credencial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msdb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dbo.sp_add_proxy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 @proxy_name = '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proxy_qhatu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 @credential_name = '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credencial_qhatu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 @enabled = 1;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Asignar el proxy a subsistemas de SQL Agent, por ejemplo CmdExec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dbo.sp_grant_proxy_to_subsystem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 @proxy_name = '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proxy_qhatu</a:t>
            </a:r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    @subsystem_id = 3;  -- 3 = </a:t>
            </a:r>
            <a:r>
              <a:rPr lang="es-ES" sz="9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CmdExec</a:t>
            </a:r>
            <a:endParaRPr lang="es-ES" sz="9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r>
              <a:rPr lang="es-ES" sz="9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9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l"/>
            <a:endParaRPr lang="es-ES" sz="900" dirty="0"/>
          </a:p>
        </p:txBody>
      </p:sp>
    </p:spTree>
    <p:extLst>
      <p:ext uri="{BB962C8B-B14F-4D97-AF65-F5344CB8AC3E}">
        <p14:creationId xmlns:p14="http://schemas.microsoft.com/office/powerpoint/2010/main" val="420004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40C3A-AD73-C7A7-A090-E22D5E234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81" y="207680"/>
            <a:ext cx="10515600" cy="404862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b="1" dirty="0">
                <a:highlight>
                  <a:srgbClr val="FFFF00"/>
                </a:highlight>
              </a:rPr>
              <a:t>3. Justificación técnica de la solución aplicada</a:t>
            </a:r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Deshabilitar </a:t>
            </a:r>
            <a:r>
              <a:rPr lang="es-ES" sz="1400" b="1" dirty="0" err="1">
                <a:latin typeface="Consolas"/>
              </a:rPr>
              <a:t>xp_cmdshell</a:t>
            </a:r>
            <a:endParaRPr lang="es-ES" sz="1400" dirty="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Evita que un usuario con permisos pueda ejecutar comandos del sistema operativo desde SQL Server, reduciendo riesgos de ataques o ejecución de malware.</a:t>
            </a:r>
            <a:endParaRPr lang="es-ES" sz="1400"/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Revisión de </a:t>
            </a:r>
            <a:r>
              <a:rPr lang="es-ES" sz="1400" b="1" dirty="0" err="1">
                <a:ea typeface="+mn-lt"/>
                <a:cs typeface="+mn-lt"/>
              </a:rPr>
              <a:t>Contained</a:t>
            </a:r>
            <a:r>
              <a:rPr lang="es-ES" sz="1400" b="1" dirty="0">
                <a:ea typeface="+mn-lt"/>
                <a:cs typeface="+mn-lt"/>
              </a:rPr>
              <a:t> </a:t>
            </a:r>
            <a:r>
              <a:rPr lang="es-ES" sz="1400" b="1" dirty="0" err="1">
                <a:ea typeface="+mn-lt"/>
                <a:cs typeface="+mn-lt"/>
              </a:rPr>
              <a:t>Database</a:t>
            </a:r>
            <a:r>
              <a:rPr lang="es-ES" sz="1400" b="1" dirty="0">
                <a:ea typeface="+mn-lt"/>
                <a:cs typeface="+mn-lt"/>
              </a:rPr>
              <a:t> </a:t>
            </a:r>
            <a:r>
              <a:rPr lang="es-ES" sz="1400" b="1" dirty="0" err="1">
                <a:ea typeface="+mn-lt"/>
                <a:cs typeface="+mn-lt"/>
              </a:rPr>
              <a:t>Authentication</a:t>
            </a:r>
            <a:endParaRPr lang="es-ES" sz="1400" dirty="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Permite determinar si la base puede autenticarse de forma independiente del servidor.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Mejora la portabilidad y seguridad al controlar si se permiten </a:t>
            </a:r>
            <a:r>
              <a:rPr lang="es-ES" sz="1400" err="1">
                <a:ea typeface="+mn-lt"/>
                <a:cs typeface="+mn-lt"/>
              </a:rPr>
              <a:t>logins</a:t>
            </a:r>
            <a:r>
              <a:rPr lang="es-ES" sz="1400" dirty="0">
                <a:ea typeface="+mn-lt"/>
                <a:cs typeface="+mn-lt"/>
              </a:rPr>
              <a:t> internos en la base.</a:t>
            </a:r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Creación de credencial y proxy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La credencial representa un </a:t>
            </a:r>
            <a:r>
              <a:rPr lang="es-ES" sz="1400" b="1" dirty="0">
                <a:ea typeface="+mn-lt"/>
                <a:cs typeface="+mn-lt"/>
              </a:rPr>
              <a:t>usuario del OS</a:t>
            </a:r>
            <a:r>
              <a:rPr lang="es-ES" sz="1400" dirty="0">
                <a:ea typeface="+mn-lt"/>
                <a:cs typeface="+mn-lt"/>
              </a:rPr>
              <a:t> con permisos limitados.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El proxy permite que </a:t>
            </a:r>
            <a:r>
              <a:rPr lang="es-ES" sz="1400" b="1" dirty="0">
                <a:ea typeface="+mn-lt"/>
                <a:cs typeface="+mn-lt"/>
              </a:rPr>
              <a:t>SQL </a:t>
            </a:r>
            <a:r>
              <a:rPr lang="es-ES" sz="1400" b="1" err="1">
                <a:ea typeface="+mn-lt"/>
                <a:cs typeface="+mn-lt"/>
              </a:rPr>
              <a:t>Agent</a:t>
            </a:r>
            <a:r>
              <a:rPr lang="es-ES" sz="1400" b="1" dirty="0">
                <a:ea typeface="+mn-lt"/>
                <a:cs typeface="+mn-lt"/>
              </a:rPr>
              <a:t> Jobs</a:t>
            </a:r>
            <a:r>
              <a:rPr lang="es-ES" sz="1400" dirty="0">
                <a:ea typeface="+mn-lt"/>
                <a:cs typeface="+mn-lt"/>
              </a:rPr>
              <a:t> ejecuten tareas de sistema sin usar cuentas administrativas, reduciendo el riesgo de elevación de privilegios.</a:t>
            </a:r>
            <a:endParaRPr lang="es-ES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400" b="1" dirty="0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b="1" dirty="0">
                <a:highlight>
                  <a:srgbClr val="FFFF00"/>
                </a:highlight>
              </a:rPr>
              <a:t>4. Explicación de las buenas prácticas utilizadas en el proyecto</a:t>
            </a:r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Principio de mínimo privilegio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La credencial y el proxy usan un usuario limitado, evitando usar cuentas de administrador para tareas automáticas.</a:t>
            </a:r>
            <a:endParaRPr lang="es-ES" sz="1400"/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Seguridad de configuración del servidor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err="1">
                <a:latin typeface="Consolas"/>
              </a:rPr>
              <a:t>xp_cmdshell</a:t>
            </a:r>
            <a:r>
              <a:rPr lang="es-ES" sz="1400" dirty="0">
                <a:ea typeface="+mn-lt"/>
                <a:cs typeface="+mn-lt"/>
              </a:rPr>
              <a:t> deshabilitado y revisión de </a:t>
            </a:r>
            <a:r>
              <a:rPr lang="es-ES" sz="1400" err="1">
                <a:latin typeface="Consolas"/>
              </a:rPr>
              <a:t>contained</a:t>
            </a:r>
            <a:r>
              <a:rPr lang="es-ES" sz="1400" dirty="0">
                <a:latin typeface="Consolas"/>
              </a:rPr>
              <a:t> </a:t>
            </a:r>
            <a:r>
              <a:rPr lang="es-ES" sz="1400" err="1">
                <a:latin typeface="Consolas"/>
              </a:rPr>
              <a:t>database</a:t>
            </a:r>
            <a:r>
              <a:rPr lang="es-ES" sz="1400" dirty="0">
                <a:latin typeface="Consolas"/>
              </a:rPr>
              <a:t> </a:t>
            </a:r>
            <a:r>
              <a:rPr lang="es-ES" sz="1400" err="1">
                <a:latin typeface="Consolas"/>
              </a:rPr>
              <a:t>authentication</a:t>
            </a:r>
            <a:r>
              <a:rPr lang="es-ES" sz="1400" dirty="0">
                <a:ea typeface="+mn-lt"/>
                <a:cs typeface="+mn-lt"/>
              </a:rPr>
              <a:t> para reducir la superficie de ataque.</a:t>
            </a:r>
            <a:endParaRPr lang="es-ES" sz="1400"/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Separación de responsabilidades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SQL </a:t>
            </a:r>
            <a:r>
              <a:rPr lang="es-ES" sz="1400" err="1">
                <a:ea typeface="+mn-lt"/>
                <a:cs typeface="+mn-lt"/>
              </a:rPr>
              <a:t>Agent</a:t>
            </a:r>
            <a:r>
              <a:rPr lang="es-ES" sz="1400" dirty="0">
                <a:ea typeface="+mn-lt"/>
                <a:cs typeface="+mn-lt"/>
              </a:rPr>
              <a:t> Jobs usan </a:t>
            </a:r>
            <a:r>
              <a:rPr lang="es-ES" sz="1400" err="1">
                <a:ea typeface="+mn-lt"/>
                <a:cs typeface="+mn-lt"/>
              </a:rPr>
              <a:t>proxies</a:t>
            </a:r>
            <a:r>
              <a:rPr lang="es-ES" sz="1400" dirty="0">
                <a:ea typeface="+mn-lt"/>
                <a:cs typeface="+mn-lt"/>
              </a:rPr>
              <a:t> y credenciales específicas, evitando mezclar usuarios de aplicación, administrador y sistema operativo.</a:t>
            </a:r>
            <a:endParaRPr lang="es-ES" sz="1400"/>
          </a:p>
          <a:p>
            <a:pPr marL="0" indent="0">
              <a:buNone/>
            </a:pPr>
            <a:r>
              <a:rPr lang="es-ES" sz="1400" b="1" dirty="0">
                <a:ea typeface="+mn-lt"/>
                <a:cs typeface="+mn-lt"/>
              </a:rPr>
              <a:t>Documentación y trazabilidad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dirty="0">
                <a:ea typeface="+mn-lt"/>
                <a:cs typeface="+mn-lt"/>
              </a:rPr>
              <a:t>Cada paso está comentado y justificado para auditoría y mantenimiento.</a:t>
            </a:r>
            <a:endParaRPr lang="es-E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918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A0C521-8165-8E73-2A96-83222E00A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94" y="439336"/>
            <a:ext cx="10515600" cy="627928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Proyecto 3: Creación y uso de roles fijos y roles personalizados (Server &amp; DB)</a:t>
            </a:r>
            <a:endParaRPr lang="es-ES" sz="1400"/>
          </a:p>
          <a:p>
            <a:pPr>
              <a:buNone/>
            </a:pPr>
            <a:r>
              <a:rPr lang="es-ES" sz="1400" b="1" dirty="0">
                <a:highlight>
                  <a:srgbClr val="FFFF00"/>
                </a:highlight>
                <a:ea typeface="+mn-lt"/>
                <a:cs typeface="+mn-lt"/>
              </a:rPr>
              <a:t>1. Enunciado del ejercicio</a:t>
            </a:r>
            <a:endParaRPr lang="es-ES" sz="1400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Crear un rol de base de datos personalizado </a:t>
            </a:r>
            <a:r>
              <a:rPr lang="es-ES" sz="1400" err="1">
                <a:ea typeface="+mn-lt"/>
                <a:cs typeface="+mn-lt"/>
              </a:rPr>
              <a:t>ventas_readwrite</a:t>
            </a:r>
            <a:r>
              <a:rPr lang="es-ES" sz="1400" dirty="0">
                <a:ea typeface="+mn-lt"/>
                <a:cs typeface="+mn-lt"/>
              </a:rPr>
              <a:t> que permita SELECT/INSERT/UPDATE en tablas relacionadas con ventas (p. ej. GUIA_ENVIO, GUIA_DETALLE) y asignar usuarios. Mostrar diferencias con roles fijos como </a:t>
            </a:r>
            <a:r>
              <a:rPr lang="es-ES" sz="1400" err="1">
                <a:ea typeface="+mn-lt"/>
                <a:cs typeface="+mn-lt"/>
              </a:rPr>
              <a:t>db_datareader</a:t>
            </a:r>
            <a:r>
              <a:rPr lang="es-ES" sz="1400" dirty="0">
                <a:ea typeface="+mn-lt"/>
                <a:cs typeface="+mn-lt"/>
              </a:rPr>
              <a:t>.</a:t>
            </a:r>
          </a:p>
          <a:p>
            <a:pPr>
              <a:buNone/>
            </a:pPr>
            <a:r>
              <a:rPr lang="es-ES" sz="1400" b="1" dirty="0">
                <a:highlight>
                  <a:srgbClr val="FFFF00"/>
                </a:highlight>
              </a:rPr>
              <a:t>2. Script de la solución en T-SQL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USE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QhatuPeru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Crear rol personalizado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CREATE ROLE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ventas_readwrite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Asignar permisos al rol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GRANT SELECT, INSERT, UPDATE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ON GUIA_ENVIO TO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ventas_readwrite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GRANT SELECT, INSERT, UPDATE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ON GUIA_DETALLE TO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ventas_readwrite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Asignar usuarios al rol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ALTER ROLE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ventas_readwrite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ADD MEMBER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usuario_sql_alumno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ALTER ROLE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ventas_readwrite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ADD MEMBER </a:t>
            </a:r>
            <a:r>
              <a:rPr lang="es-ES" sz="1400" dirty="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usuario_win_alumno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GO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-- Ejemplo de rol fijo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EXEC 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sp_addrolemember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'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db_datareader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', '</a:t>
            </a:r>
            <a:r>
              <a:rPr lang="es-ES" sz="1400" err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usuario_sql_alumno</a:t>
            </a:r>
            <a:r>
              <a:rPr lang="es-ES" sz="1400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';</a:t>
            </a:r>
            <a:endParaRPr lang="es-ES" sz="14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buNone/>
            </a:pPr>
            <a:endParaRPr lang="es-ES" sz="1800" dirty="0"/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E3D5C921-4F72-DF3D-0C7D-460A2A597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14" y="1440111"/>
            <a:ext cx="4479275" cy="517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1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B8E38-3FBF-15C4-84D2-CBB97C04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063" y="458200"/>
            <a:ext cx="78955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 b="1" dirty="0">
                <a:highlight>
                  <a:srgbClr val="FFFF00"/>
                </a:highlight>
              </a:rPr>
              <a:t>3. Justificación técnica de la solución aplicada</a:t>
            </a:r>
          </a:p>
          <a:p>
            <a:pPr>
              <a:buFont typeface="Arial"/>
              <a:buChar char="•"/>
            </a:pPr>
            <a:r>
              <a:rPr lang="es-ES" sz="2000" dirty="0">
                <a:ea typeface="+mn-lt"/>
                <a:cs typeface="+mn-lt"/>
              </a:rPr>
              <a:t>Permite controlar permisos </a:t>
            </a:r>
            <a:r>
              <a:rPr lang="es-ES" sz="2000" b="1" dirty="0">
                <a:ea typeface="+mn-lt"/>
                <a:cs typeface="+mn-lt"/>
              </a:rPr>
              <a:t>por grupo</a:t>
            </a:r>
            <a:r>
              <a:rPr lang="es-ES" sz="2000" dirty="0">
                <a:ea typeface="+mn-lt"/>
                <a:cs typeface="+mn-lt"/>
              </a:rPr>
              <a:t>, evitando asignar privilegios uno por uno.</a:t>
            </a:r>
            <a:endParaRPr lang="es-ES" sz="2000" dirty="0"/>
          </a:p>
          <a:p>
            <a:pPr>
              <a:buFont typeface="Arial"/>
              <a:buChar char="•"/>
            </a:pPr>
            <a:r>
              <a:rPr lang="es-ES" sz="2000" dirty="0">
                <a:ea typeface="+mn-lt"/>
                <a:cs typeface="+mn-lt"/>
              </a:rPr>
              <a:t>Los roles fijos (</a:t>
            </a:r>
            <a:r>
              <a:rPr lang="es-ES" sz="2000" err="1">
                <a:latin typeface="Consolas"/>
              </a:rPr>
              <a:t>db_datareader</a:t>
            </a:r>
            <a:r>
              <a:rPr lang="es-ES" sz="2000" dirty="0">
                <a:ea typeface="+mn-lt"/>
                <a:cs typeface="+mn-lt"/>
              </a:rPr>
              <a:t>) dan permisos generales, mientras los personalizados permiten </a:t>
            </a:r>
            <a:r>
              <a:rPr lang="es-ES" sz="2000" b="1" dirty="0">
                <a:ea typeface="+mn-lt"/>
                <a:cs typeface="+mn-lt"/>
              </a:rPr>
              <a:t>control fino por tabla o esquema</a:t>
            </a:r>
            <a:r>
              <a:rPr lang="es-ES" sz="2000" dirty="0">
                <a:ea typeface="+mn-lt"/>
                <a:cs typeface="+mn-lt"/>
              </a:rPr>
              <a:t>.</a:t>
            </a:r>
            <a:endParaRPr lang="es-ES" sz="2000" dirty="0"/>
          </a:p>
          <a:p>
            <a:pPr>
              <a:buNone/>
            </a:pPr>
            <a:endParaRPr lang="es-ES" sz="2000" dirty="0"/>
          </a:p>
          <a:p>
            <a:pPr>
              <a:buNone/>
            </a:pPr>
            <a:r>
              <a:rPr lang="es-ES" sz="2000" b="1" dirty="0">
                <a:highlight>
                  <a:srgbClr val="FFFF00"/>
                </a:highlight>
              </a:rPr>
              <a:t>4. Explicación de las buenas prácticas utilizadas en el proyecto</a:t>
            </a:r>
          </a:p>
          <a:p>
            <a:pPr>
              <a:buFont typeface="Arial"/>
              <a:buChar char="•"/>
            </a:pPr>
            <a:r>
              <a:rPr lang="es-ES" sz="2000" dirty="0">
                <a:ea typeface="+mn-lt"/>
                <a:cs typeface="+mn-lt"/>
              </a:rPr>
              <a:t>Uso de roles para </a:t>
            </a:r>
            <a:r>
              <a:rPr lang="es-ES" sz="2000" b="1" dirty="0">
                <a:ea typeface="+mn-lt"/>
                <a:cs typeface="+mn-lt"/>
              </a:rPr>
              <a:t>principio de mínimo privilegio</a:t>
            </a:r>
            <a:r>
              <a:rPr lang="es-ES" sz="2000" dirty="0">
                <a:ea typeface="+mn-lt"/>
                <a:cs typeface="+mn-lt"/>
              </a:rPr>
              <a:t>.</a:t>
            </a:r>
            <a:endParaRPr lang="es-ES" sz="2000" dirty="0"/>
          </a:p>
          <a:p>
            <a:pPr>
              <a:buFont typeface="Arial"/>
              <a:buChar char="•"/>
            </a:pPr>
            <a:r>
              <a:rPr lang="es-ES" sz="2000" dirty="0">
                <a:ea typeface="+mn-lt"/>
                <a:cs typeface="+mn-lt"/>
              </a:rPr>
              <a:t>Separar roles por tipo de acción y tabla para </a:t>
            </a:r>
            <a:r>
              <a:rPr lang="es-ES" sz="2000" b="1" dirty="0">
                <a:ea typeface="+mn-lt"/>
                <a:cs typeface="+mn-lt"/>
              </a:rPr>
              <a:t>mejor trazabilidad</a:t>
            </a:r>
            <a:r>
              <a:rPr lang="es-ES" sz="2000" dirty="0">
                <a:ea typeface="+mn-lt"/>
                <a:cs typeface="+mn-lt"/>
              </a:rPr>
              <a:t>.</a:t>
            </a:r>
            <a:endParaRPr lang="es-ES" sz="2000" dirty="0"/>
          </a:p>
          <a:p>
            <a:pPr>
              <a:buNone/>
            </a:pPr>
            <a:endParaRPr lang="es-E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8761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813638-92EE-9312-ABD8-80FD478A3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58" y="406009"/>
            <a:ext cx="10515600" cy="17208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100" dirty="0"/>
              <a:t>Proyecto 4: Control de acceso con GRANT/DENY/REVOKE</a:t>
            </a:r>
          </a:p>
          <a:p>
            <a:pPr>
              <a:buNone/>
            </a:pPr>
            <a:r>
              <a:rPr lang="es-ES" sz="1400" b="1" dirty="0">
                <a:highlight>
                  <a:srgbClr val="FFFF00"/>
                </a:highlight>
              </a:rPr>
              <a:t>1. Enunciado del ejercicio</a:t>
            </a:r>
            <a:endParaRPr lang="es-ES" sz="1400" b="1"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sz="1100" dirty="0"/>
              <a:t>Simular un caso donde un analista necesita ver inventario pero no los precios. Crear roles/usuarios y usar DENY para impedir SELECT sobre Precio Proveedor y </a:t>
            </a:r>
            <a:r>
              <a:rPr lang="es-ES" sz="1100" dirty="0" err="1"/>
              <a:t>PrecioVenta</a:t>
            </a:r>
            <a:r>
              <a:rPr lang="es-ES" sz="1100" dirty="0"/>
              <a:t>.</a:t>
            </a:r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2. Script de la solución en T-SQL</a:t>
            </a:r>
            <a:endParaRPr lang="en-US" sz="1800" dirty="0"/>
          </a:p>
          <a:p>
            <a:pPr>
              <a:buNone/>
            </a:pPr>
            <a:endParaRPr lang="es-ES" sz="1800" dirty="0"/>
          </a:p>
          <a:p>
            <a:pPr>
              <a:buNone/>
            </a:pPr>
            <a:endParaRPr lang="es-ES" sz="1200" dirty="0">
              <a:solidFill>
                <a:schemeClr val="accent1"/>
              </a:solidFill>
            </a:endParaRPr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65DAF5-1D1D-01C4-BB8D-87ACFD5ABD5A}"/>
              </a:ext>
            </a:extLst>
          </p:cNvPr>
          <p:cNvSpPr txBox="1"/>
          <p:nvPr/>
        </p:nvSpPr>
        <p:spPr>
          <a:xfrm>
            <a:off x="604853" y="1847799"/>
            <a:ext cx="4443918" cy="42534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dirty="0"/>
              <a:t>PASO 1 — Crear usuarios y roles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USE </a:t>
            </a:r>
            <a:r>
              <a:rPr lang="es-ES" sz="1200" b="1" err="1">
                <a:solidFill>
                  <a:schemeClr val="accent1"/>
                </a:solidFill>
              </a:rPr>
              <a:t>QhatuPERU</a:t>
            </a:r>
            <a:r>
              <a:rPr lang="es-ES" sz="1200" b="1" dirty="0">
                <a:solidFill>
                  <a:schemeClr val="accent1"/>
                </a:solidFill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GO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-- Crear usuario sin </a:t>
            </a:r>
            <a:r>
              <a:rPr lang="es-ES" sz="1200" b="1" err="1">
                <a:solidFill>
                  <a:schemeClr val="accent1"/>
                </a:solidFill>
              </a:rPr>
              <a:t>login</a:t>
            </a:r>
            <a:r>
              <a:rPr lang="es-ES" sz="1200" b="1" dirty="0">
                <a:solidFill>
                  <a:schemeClr val="accent1"/>
                </a:solidFill>
              </a:rPr>
              <a:t> (para pruebas locales)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CREATE LOGIN </a:t>
            </a:r>
            <a:r>
              <a:rPr lang="es-ES" sz="1200" b="1" err="1">
                <a:solidFill>
                  <a:schemeClr val="accent1"/>
                </a:solidFill>
              </a:rPr>
              <a:t>AnalistaLogin</a:t>
            </a:r>
            <a:r>
              <a:rPr lang="es-ES" sz="1200" b="1" dirty="0">
                <a:solidFill>
                  <a:schemeClr val="accent1"/>
                </a:solidFill>
              </a:rPr>
              <a:t> WITH PASSWORD = 'Analista123$', CHECK_POLICY = OFF;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GO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CREATE USER Analista FOR LOGIN </a:t>
            </a:r>
            <a:r>
              <a:rPr lang="es-ES" sz="1200" b="1" err="1">
                <a:solidFill>
                  <a:schemeClr val="accent1"/>
                </a:solidFill>
              </a:rPr>
              <a:t>AnalistaLogin</a:t>
            </a:r>
            <a:r>
              <a:rPr lang="es-ES" sz="1200" b="1" dirty="0">
                <a:solidFill>
                  <a:schemeClr val="accent1"/>
                </a:solidFill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GO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-- Crear rol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CREATE ROLE </a:t>
            </a:r>
            <a:r>
              <a:rPr lang="es-ES" sz="1200" b="1" err="1">
                <a:solidFill>
                  <a:schemeClr val="accent1"/>
                </a:solidFill>
              </a:rPr>
              <a:t>AnalistaInventario</a:t>
            </a:r>
            <a:r>
              <a:rPr lang="es-ES" sz="1200" b="1" dirty="0">
                <a:solidFill>
                  <a:schemeClr val="accent1"/>
                </a:solidFill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GO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-- Agregar usuario al rol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ALTER ROLE </a:t>
            </a:r>
            <a:r>
              <a:rPr lang="es-ES" sz="1200" b="1" err="1">
                <a:solidFill>
                  <a:schemeClr val="accent1"/>
                </a:solidFill>
              </a:rPr>
              <a:t>AnalistaInventario</a:t>
            </a:r>
            <a:r>
              <a:rPr lang="es-ES" sz="1200" b="1" dirty="0">
                <a:solidFill>
                  <a:schemeClr val="accent1"/>
                </a:solidFill>
              </a:rPr>
              <a:t> ADD MEMBER Analista;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s-ES" sz="1200" b="1" dirty="0">
                <a:solidFill>
                  <a:schemeClr val="accent1"/>
                </a:solidFill>
              </a:rPr>
              <a:t>GO</a:t>
            </a:r>
          </a:p>
        </p:txBody>
      </p:sp>
      <p:pic>
        <p:nvPicPr>
          <p:cNvPr id="6" name="Imagen 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320A933-0CAA-8447-FB4F-031B7F63B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928" y="1852938"/>
            <a:ext cx="5336610" cy="39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76B6B9F-F081-96BB-4A90-0AE8815C9BDE}"/>
              </a:ext>
            </a:extLst>
          </p:cNvPr>
          <p:cNvSpPr txBox="1"/>
          <p:nvPr/>
        </p:nvSpPr>
        <p:spPr>
          <a:xfrm>
            <a:off x="364023" y="252016"/>
            <a:ext cx="6647836" cy="31706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PASO</a:t>
            </a:r>
            <a:r>
              <a:rPr lang="es-ES" dirty="0">
                <a:ea typeface="+mn-lt"/>
                <a:cs typeface="+mn-lt"/>
              </a:rPr>
              <a:t> 2 — Otorgar permisos de consulta sobre tablas necesarias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Permitir usar la BD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GRANT CONNECT TO Analista;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Permitir ver información general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GRANT SELECT ON ARTICULO TO 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AnalistaInventario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GRANT SELECT ON LINEA TO 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AnalistaInventario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GRANT SELECT ON PROVEEDOR TO 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AnalistaInventario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GRANT SELECT ON GUIA_DETALLE TO 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AnalistaInventario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chemeClr val="accent1"/>
              </a:solidFill>
              <a:ea typeface="+mn-lt"/>
              <a:cs typeface="+mn-lt"/>
            </a:endParaRPr>
          </a:p>
          <a:p>
            <a:endParaRPr lang="es-ES" b="1" dirty="0">
              <a:solidFill>
                <a:schemeClr val="accent1"/>
              </a:solidFill>
            </a:endParaRPr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323EA13-4D0C-9077-87B9-B4C89829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458" y="132241"/>
            <a:ext cx="4779332" cy="2783519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BC2D566-319C-1328-F6A0-A9E0A19E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5" y="3568482"/>
            <a:ext cx="5316516" cy="216361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AED6BA-2422-DA26-45AC-81B4D7C17B32}"/>
              </a:ext>
            </a:extLst>
          </p:cNvPr>
          <p:cNvSpPr txBox="1"/>
          <p:nvPr/>
        </p:nvSpPr>
        <p:spPr>
          <a:xfrm>
            <a:off x="5894384" y="3570233"/>
            <a:ext cx="561436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PASO</a:t>
            </a:r>
            <a:r>
              <a:rPr lang="es-ES" dirty="0">
                <a:ea typeface="+mn-lt"/>
                <a:cs typeface="+mn-lt"/>
              </a:rPr>
              <a:t> 3 — Aplicar DENY sobre columnas sensibles</a:t>
            </a:r>
          </a:p>
          <a:p>
            <a:r>
              <a:rPr lang="es-ES" b="1" dirty="0">
                <a:ea typeface="+mn-lt"/>
                <a:cs typeface="+mn-lt"/>
              </a:rPr>
              <a:t>Negar ver el precio del proveedor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DENY SELECT ON OBJECT::ARTICULO (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PrecioProveedor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) TO </a:t>
            </a:r>
            <a:r>
              <a:rPr lang="es-ES" b="1" dirty="0" err="1">
                <a:solidFill>
                  <a:schemeClr val="accent1"/>
                </a:solidFill>
                <a:ea typeface="+mn-lt"/>
                <a:cs typeface="+mn-lt"/>
              </a:rPr>
              <a:t>AnalistaInventario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ea typeface="+mn-lt"/>
                <a:cs typeface="+mn-lt"/>
              </a:rPr>
              <a:t>Negar ver el precio de venta</a:t>
            </a:r>
            <a:endParaRPr lang="es-ES" b="1" dirty="0"/>
          </a:p>
          <a:p>
            <a:r>
              <a:rPr lang="es-ES" b="1">
                <a:solidFill>
                  <a:schemeClr val="accent1"/>
                </a:solidFill>
                <a:ea typeface="+mn-lt"/>
                <a:cs typeface="+mn-lt"/>
              </a:rPr>
              <a:t>DENY SELECT ON OBJECT::GUIA_DETALLE (PrecioVenta) TO AnalistaInventario;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b="1">
              <a:solidFill>
                <a:schemeClr val="accent1"/>
              </a:solidFill>
            </a:endParaRPr>
          </a:p>
          <a:p>
            <a:endParaRPr lang="es-ES" dirty="0">
              <a:solidFill>
                <a:schemeClr val="accent1"/>
              </a:solidFill>
            </a:endParaRP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87127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21E9D0A-3425-AD24-EB9A-5827DCCAF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7859" y="254510"/>
            <a:ext cx="6654583" cy="45290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CFEA994-6817-70AB-7F96-4D753E5B3C7D}"/>
              </a:ext>
            </a:extLst>
          </p:cNvPr>
          <p:cNvSpPr txBox="1"/>
          <p:nvPr/>
        </p:nvSpPr>
        <p:spPr>
          <a:xfrm>
            <a:off x="393947" y="252266"/>
            <a:ext cx="497848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PASO</a:t>
            </a:r>
            <a:r>
              <a:rPr lang="es-ES" dirty="0">
                <a:ea typeface="+mn-lt"/>
                <a:cs typeface="+mn-lt"/>
              </a:rPr>
              <a:t> 4 — Prueba del ejercicio</a:t>
            </a: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EXECUTE AS USER = 'Analista';</a:t>
            </a:r>
            <a:endParaRPr lang="es-ES" b="1" dirty="0">
              <a:solidFill>
                <a:schemeClr val="accent1"/>
              </a:solidFill>
            </a:endParaRPr>
          </a:p>
          <a:p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Prueba 1: Intentar ver ARTICULO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CodArticulo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DescripcionArticulo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PrecioProveedor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StockActual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FROM ARTICULO;</a:t>
            </a:r>
            <a:endParaRPr lang="es-ES" b="1" dirty="0">
              <a:solidFill>
                <a:schemeClr val="accent1"/>
              </a:solidFill>
            </a:endParaRPr>
          </a:p>
          <a:p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Prueba 2: Intentar ver GUIA_DETALLE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NumGuia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CodArticulo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PrecioVenta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CantidadEnviada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FROM GUIA_DETALLE;</a:t>
            </a:r>
            <a:endParaRPr lang="es-ES" b="1" dirty="0">
              <a:solidFill>
                <a:schemeClr val="accent1"/>
              </a:solidFill>
            </a:endParaRPr>
          </a:p>
          <a:p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REVERT;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b="1" dirty="0">
              <a:solidFill>
                <a:schemeClr val="accent1"/>
              </a:solidFill>
            </a:endParaRP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AA36AC-855A-90E2-11C3-7FC985CBC9F7}"/>
              </a:ext>
            </a:extLst>
          </p:cNvPr>
          <p:cNvSpPr txBox="1"/>
          <p:nvPr/>
        </p:nvSpPr>
        <p:spPr>
          <a:xfrm>
            <a:off x="1920835" y="5223909"/>
            <a:ext cx="83445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Ese</a:t>
            </a:r>
            <a:r>
              <a:rPr lang="es-ES" b="1" dirty="0">
                <a:ea typeface="+mn-lt"/>
                <a:cs typeface="+mn-lt"/>
              </a:rPr>
              <a:t> mensaje no es un error de mal funcionamiento, sino la confirmación correcta de que el usuario NO puede ver esos datos.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517784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061D3A-6890-C58F-99B3-D4A07F015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18" y="395570"/>
            <a:ext cx="10515600" cy="474799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3. Justificación técnica de la solución aplicada</a:t>
            </a:r>
            <a:endParaRPr lang="es-ES" sz="1800" dirty="0"/>
          </a:p>
          <a:p>
            <a:r>
              <a:rPr lang="es-ES" dirty="0">
                <a:ea typeface="+mn-lt"/>
                <a:cs typeface="+mn-lt"/>
              </a:rPr>
              <a:t>Principio de privilegios mínimos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El Analista solo recibe permisos estrictamente necesarios (</a:t>
            </a:r>
            <a:r>
              <a:rPr lang="es-ES" dirty="0">
                <a:latin typeface="Consolas"/>
              </a:rPr>
              <a:t>SELECT</a:t>
            </a:r>
            <a:r>
              <a:rPr lang="es-ES" dirty="0">
                <a:ea typeface="+mn-lt"/>
                <a:cs typeface="+mn-lt"/>
              </a:rPr>
              <a:t> sobre tablas específicas).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No recibe permisos innecesarios como </a:t>
            </a:r>
            <a:r>
              <a:rPr lang="es-ES" dirty="0">
                <a:latin typeface="Consolas"/>
              </a:rPr>
              <a:t>INSERT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>
                <a:latin typeface="Consolas"/>
              </a:rPr>
              <a:t>UPDATE</a:t>
            </a:r>
            <a:r>
              <a:rPr lang="es-ES" dirty="0">
                <a:ea typeface="+mn-lt"/>
                <a:cs typeface="+mn-lt"/>
              </a:rPr>
              <a:t> ni </a:t>
            </a:r>
            <a:r>
              <a:rPr lang="es-ES" dirty="0">
                <a:latin typeface="Consolas"/>
              </a:rPr>
              <a:t>DELETE</a:t>
            </a:r>
            <a:r>
              <a:rPr lang="es-ES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Uso de roles en lugar de permisos directos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Facilita la administración: nuevos usuarios solo se agregan al rol.</a:t>
            </a:r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DENY explícito sobre columnas específicas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Aunque un rol tenga </a:t>
            </a:r>
            <a:r>
              <a:rPr lang="es-ES" dirty="0">
                <a:latin typeface="Consolas"/>
              </a:rPr>
              <a:t>SELECT</a:t>
            </a:r>
            <a:r>
              <a:rPr lang="es-ES" dirty="0">
                <a:ea typeface="+mn-lt"/>
                <a:cs typeface="+mn-lt"/>
              </a:rPr>
              <a:t> sobre una tabla, un DENY siempre tiene mayor prioridad.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Esto permite que el usuario consulte inventario pero sin acceder a información sensible.</a:t>
            </a:r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Separación de permisos por objeto</a:t>
            </a:r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ARTICULO → restricciones en </a:t>
            </a:r>
            <a:r>
              <a:rPr lang="es-ES" dirty="0" err="1">
                <a:latin typeface="Consolas"/>
              </a:rPr>
              <a:t>PrecioProveedor</a:t>
            </a:r>
            <a:endParaRPr lang="es-ES" dirty="0" err="1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GUIA_DETALLE → restricciones en </a:t>
            </a:r>
            <a:r>
              <a:rPr lang="es-ES" dirty="0" err="1">
                <a:latin typeface="Consolas"/>
              </a:rPr>
              <a:t>PrecioVenta</a:t>
            </a:r>
            <a:endParaRPr lang="es-ES" dirty="0" err="1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Prueba mediante </a:t>
            </a:r>
            <a:r>
              <a:rPr lang="es-ES" dirty="0">
                <a:latin typeface="Consolas"/>
              </a:rPr>
              <a:t>EXECUTE AS USER</a:t>
            </a:r>
            <a:br>
              <a:rPr lang="es-ES" dirty="0">
                <a:latin typeface="Consolas"/>
              </a:rPr>
            </a:br>
            <a:r>
              <a:rPr lang="es-ES" dirty="0">
                <a:latin typeface="Consolas"/>
              </a:rPr>
              <a:t> Permite verificar los permisos sin necesidad de cerrar sesión.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261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7B3368-30E5-DFA8-5026-DD4AE604E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64" y="468639"/>
            <a:ext cx="105156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s-ES" sz="1800" b="1" dirty="0">
                <a:highlight>
                  <a:srgbClr val="FFFF00"/>
                </a:highlight>
              </a:rPr>
              <a:t>4. Explicación de las buenas prácticas utilizadas en el proyecto</a:t>
            </a:r>
          </a:p>
          <a:p>
            <a:pPr>
              <a:buNone/>
            </a:pPr>
            <a:r>
              <a:rPr lang="es-ES" b="1" dirty="0"/>
              <a:t>Uso del principio de privilegios mínimos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Se dio acceso solo a la información estrictamente necesaria para el rol.</a:t>
            </a:r>
            <a:endParaRPr lang="es-ES" dirty="0"/>
          </a:p>
          <a:p>
            <a:pPr>
              <a:buNone/>
            </a:pPr>
            <a:r>
              <a:rPr lang="es-ES" b="1" dirty="0"/>
              <a:t>Seguridad basada en roles (RBAC)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En vez de asignar permisos uno por uno, se crea un rol que agrupa permisos de manera profesional.</a:t>
            </a:r>
            <a:endParaRPr lang="es-ES" dirty="0"/>
          </a:p>
          <a:p>
            <a:pPr>
              <a:buNone/>
            </a:pPr>
            <a:r>
              <a:rPr lang="es-ES" dirty="0"/>
              <a:t> </a:t>
            </a:r>
            <a:r>
              <a:rPr lang="es-ES" b="1" dirty="0"/>
              <a:t>Separación clara entre datos públicos y datos sensibles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Se protege información financiera: precios de compra y venta.</a:t>
            </a:r>
            <a:endParaRPr lang="es-ES" dirty="0"/>
          </a:p>
          <a:p>
            <a:pPr>
              <a:buNone/>
            </a:pPr>
            <a:r>
              <a:rPr lang="es-ES" dirty="0"/>
              <a:t> </a:t>
            </a:r>
            <a:r>
              <a:rPr lang="es-ES" b="1" dirty="0"/>
              <a:t>Uso de DENY solo en casos especiales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Se usa únicamente para bloquear columnas sensibles que están dentro de tablas que el usuario sí necesita consultar.</a:t>
            </a:r>
            <a:endParaRPr lang="es-ES" dirty="0"/>
          </a:p>
          <a:p>
            <a:pPr>
              <a:buNone/>
            </a:pPr>
            <a:r>
              <a:rPr lang="es-ES" dirty="0"/>
              <a:t> </a:t>
            </a:r>
            <a:r>
              <a:rPr lang="es-ES" b="1" dirty="0"/>
              <a:t>Auditoría de permisos mediante pruebas reales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Se incluyó un bloque </a:t>
            </a:r>
            <a:r>
              <a:rPr lang="es-ES" sz="1800" dirty="0">
                <a:latin typeface="Consolas"/>
              </a:rPr>
              <a:t>EXECUTE AS USER</a:t>
            </a:r>
            <a:r>
              <a:rPr lang="es-ES" sz="1800" dirty="0">
                <a:ea typeface="+mn-lt"/>
                <a:cs typeface="+mn-lt"/>
              </a:rPr>
              <a:t> para validar la solución.</a:t>
            </a:r>
            <a:endParaRPr lang="es-ES" dirty="0"/>
          </a:p>
          <a:p>
            <a:pPr marL="0" indent="0"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359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1E88D-E5CE-3182-9415-2FBF5E785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940" y="353817"/>
            <a:ext cx="10515600" cy="1835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500" dirty="0"/>
              <a:t>Proyecto 5: Protección de datos: Implementación básica de TDE (</a:t>
            </a:r>
            <a:r>
              <a:rPr lang="es-ES" sz="1500" dirty="0" err="1"/>
              <a:t>Transparent</a:t>
            </a:r>
            <a:r>
              <a:rPr lang="es-ES" sz="1500" dirty="0"/>
              <a:t> Data </a:t>
            </a:r>
            <a:r>
              <a:rPr lang="es-ES" sz="1500" dirty="0" err="1"/>
              <a:t>Encryption</a:t>
            </a:r>
            <a:r>
              <a:rPr lang="es-ES" sz="1500" dirty="0"/>
              <a:t>)</a:t>
            </a:r>
          </a:p>
          <a:p>
            <a:pPr>
              <a:buNone/>
            </a:pPr>
            <a:r>
              <a:rPr lang="es-ES" sz="1500" dirty="0"/>
              <a:t>1. Enunciado del ejercicio</a:t>
            </a:r>
          </a:p>
          <a:p>
            <a:pPr>
              <a:buNone/>
            </a:pPr>
            <a:r>
              <a:rPr lang="es-ES" sz="1500" dirty="0"/>
              <a:t>Habilitar TDE en la base </a:t>
            </a:r>
            <a:r>
              <a:rPr lang="es-ES" sz="1500" err="1"/>
              <a:t>QhatuPeru</a:t>
            </a:r>
            <a:r>
              <a:rPr lang="es-ES" sz="1500" dirty="0"/>
              <a:t> para proteger los archivos MDF/LDF en reposo. Crear la master </a:t>
            </a:r>
            <a:r>
              <a:rPr lang="es-ES" sz="1500" err="1"/>
              <a:t>key</a:t>
            </a:r>
            <a:r>
              <a:rPr lang="es-ES" sz="1500" dirty="0"/>
              <a:t>, el certificado de servidor y activar el cifrado.</a:t>
            </a:r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2. Script de la solución en T-SQL</a:t>
            </a:r>
            <a:endParaRPr lang="en-US" sz="1800"/>
          </a:p>
          <a:p>
            <a:pPr>
              <a:buNone/>
            </a:pPr>
            <a:endParaRPr lang="es-ES" sz="1800" b="1" dirty="0">
              <a:solidFill>
                <a:schemeClr val="accent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8576C5-E676-C596-8DAA-DFC493A00B4C}"/>
              </a:ext>
            </a:extLst>
          </p:cNvPr>
          <p:cNvSpPr txBox="1"/>
          <p:nvPr/>
        </p:nvSpPr>
        <p:spPr>
          <a:xfrm>
            <a:off x="485078" y="2003162"/>
            <a:ext cx="4780900" cy="45065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dirty="0"/>
              <a:t>U</a:t>
            </a:r>
            <a:r>
              <a:rPr lang="es-ES" sz="800" b="1" dirty="0">
                <a:solidFill>
                  <a:schemeClr val="accent1"/>
                </a:solidFill>
              </a:rPr>
              <a:t>SE master;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-- Crear master </a:t>
            </a:r>
            <a:r>
              <a:rPr lang="es-ES" sz="800" b="1" err="1">
                <a:solidFill>
                  <a:schemeClr val="accent1"/>
                </a:solidFill>
              </a:rPr>
              <a:t>key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CREATE MASTER KEY ENCRYPTION BY PASSWORD = 'Contraseña#Maestra2025';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-- Crear certificado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CREATE CERTIFICATE </a:t>
            </a:r>
            <a:r>
              <a:rPr lang="es-ES" sz="800" b="1" err="1">
                <a:solidFill>
                  <a:schemeClr val="accent1"/>
                </a:solidFill>
              </a:rPr>
              <a:t>TDE_Cert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WITH SUBJECT = 'Certificado para TDE </a:t>
            </a:r>
            <a:r>
              <a:rPr lang="es-ES" sz="800" b="1" err="1">
                <a:solidFill>
                  <a:schemeClr val="accent1"/>
                </a:solidFill>
              </a:rPr>
              <a:t>QhatuPeru</a:t>
            </a:r>
            <a:r>
              <a:rPr lang="es-ES" sz="800" b="1" dirty="0">
                <a:solidFill>
                  <a:schemeClr val="accent1"/>
                </a:solidFill>
              </a:rPr>
              <a:t>';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-- Crear algoritmo de cifrado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USE </a:t>
            </a:r>
            <a:r>
              <a:rPr lang="es-ES" sz="800" b="1" err="1">
                <a:solidFill>
                  <a:schemeClr val="accent1"/>
                </a:solidFill>
              </a:rPr>
              <a:t>QhatuPeru</a:t>
            </a:r>
            <a:r>
              <a:rPr lang="es-ES" sz="800" b="1" dirty="0">
                <a:solidFill>
                  <a:schemeClr val="accent1"/>
                </a:solidFill>
              </a:rPr>
              <a:t>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CREATE DATABASE ENCRYPTION KEY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WITH ALGORITHM = AES_256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ENCRYPTION BY SERVER CERTIFICATE </a:t>
            </a:r>
            <a:r>
              <a:rPr lang="es-ES" sz="800" b="1" err="1">
                <a:solidFill>
                  <a:schemeClr val="accent1"/>
                </a:solidFill>
              </a:rPr>
              <a:t>TDE_Cert</a:t>
            </a:r>
            <a:r>
              <a:rPr lang="es-ES" sz="800" b="1" dirty="0">
                <a:solidFill>
                  <a:schemeClr val="accent1"/>
                </a:solidFill>
              </a:rPr>
              <a:t>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-- Activar TDE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ALTER DATABASE </a:t>
            </a:r>
            <a:r>
              <a:rPr lang="es-ES" sz="800" b="1" err="1">
                <a:solidFill>
                  <a:schemeClr val="accent1"/>
                </a:solidFill>
              </a:rPr>
              <a:t>QhatuPeru</a:t>
            </a:r>
            <a:r>
              <a:rPr lang="es-ES" sz="800" b="1" dirty="0">
                <a:solidFill>
                  <a:schemeClr val="accent1"/>
                </a:solidFill>
              </a:rPr>
              <a:t> SET ENCRYPTION ON;</a:t>
            </a:r>
            <a:endParaRPr lang="es-ES" sz="800">
              <a:solidFill>
                <a:schemeClr val="accent1"/>
              </a:solidFill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s-ES" sz="800" b="1" dirty="0">
                <a:solidFill>
                  <a:schemeClr val="accent1"/>
                </a:solidFill>
              </a:rPr>
              <a:t>GO</a:t>
            </a:r>
            <a:endParaRPr lang="es-E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359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905591-2391-6DEC-FC42-A541B58D7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33" y="80266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3. Justificación técnica de la solución aplicada</a:t>
            </a:r>
            <a:endParaRPr lang="en-US" sz="1800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Protege los archivos físicos de la base en caso de robo o copia.</a:t>
            </a:r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TDE cifra de manera transparente sin cambiar aplicaciones ni consultas existentes.</a:t>
            </a:r>
          </a:p>
          <a:p>
            <a:pPr>
              <a:buNone/>
            </a:pPr>
            <a:endParaRPr lang="es-ES" sz="1800" b="1" dirty="0"/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4. Explicación de las buenas prácticas utilizadas en el proyecto</a:t>
            </a:r>
            <a:endParaRPr lang="es-ES" sz="1800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Cifrado de datos en reposo.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Uso de master </a:t>
            </a:r>
            <a:r>
              <a:rPr lang="es-ES" dirty="0" err="1">
                <a:ea typeface="+mn-lt"/>
                <a:cs typeface="+mn-lt"/>
              </a:rPr>
              <a:t>key</a:t>
            </a:r>
            <a:r>
              <a:rPr lang="es-ES" dirty="0">
                <a:ea typeface="+mn-lt"/>
                <a:cs typeface="+mn-lt"/>
              </a:rPr>
              <a:t> y certificado único para cada base.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831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99328-306F-EE25-3B2F-BB821777E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95" y="395570"/>
            <a:ext cx="10515600" cy="40381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500" dirty="0"/>
              <a:t>Proyecto 6: Implementación de </a:t>
            </a:r>
            <a:r>
              <a:rPr lang="es-ES" sz="1500" dirty="0" err="1"/>
              <a:t>Always</a:t>
            </a:r>
            <a:r>
              <a:rPr lang="es-ES" sz="1500" dirty="0"/>
              <a:t> </a:t>
            </a:r>
            <a:r>
              <a:rPr lang="es-ES" sz="1500" dirty="0" err="1"/>
              <a:t>Encrypted</a:t>
            </a:r>
            <a:r>
              <a:rPr lang="es-ES" sz="1500" dirty="0"/>
              <a:t> (columna de datos sensibles)</a:t>
            </a:r>
          </a:p>
          <a:p>
            <a:pPr>
              <a:buNone/>
            </a:pPr>
            <a:r>
              <a:rPr lang="es-ES" sz="1500" dirty="0"/>
              <a:t>1. Enunciado del ejercicio</a:t>
            </a:r>
          </a:p>
          <a:p>
            <a:pPr>
              <a:buNone/>
            </a:pPr>
            <a:r>
              <a:rPr lang="es-ES" sz="1500" dirty="0"/>
              <a:t>Configurar un ejemplo de </a:t>
            </a:r>
            <a:r>
              <a:rPr lang="es-ES" sz="1500" dirty="0" err="1"/>
              <a:t>Always</a:t>
            </a:r>
            <a:r>
              <a:rPr lang="es-ES" sz="1500" dirty="0"/>
              <a:t> </a:t>
            </a:r>
            <a:r>
              <a:rPr lang="es-ES" sz="1500" dirty="0" err="1"/>
              <a:t>Encrypted</a:t>
            </a:r>
            <a:r>
              <a:rPr lang="es-ES" sz="1500" dirty="0"/>
              <a:t> para la columna Precio Proveedor (o crear una nueva columna Precio </a:t>
            </a:r>
            <a:r>
              <a:rPr lang="es-ES" sz="1500" dirty="0" err="1"/>
              <a:t>Proveedor_ENC</a:t>
            </a:r>
            <a:r>
              <a:rPr lang="es-ES" sz="1500" dirty="0"/>
              <a:t>) usando una </a:t>
            </a:r>
            <a:r>
              <a:rPr lang="es-ES" sz="1500" dirty="0" err="1"/>
              <a:t>Column</a:t>
            </a:r>
            <a:r>
              <a:rPr lang="es-ES" sz="1500" dirty="0"/>
              <a:t> Master Key (CMK) almacenada en el almacén de certificados y una </a:t>
            </a:r>
            <a:r>
              <a:rPr lang="es-ES" sz="1500" dirty="0" err="1"/>
              <a:t>Column</a:t>
            </a:r>
            <a:r>
              <a:rPr lang="es-ES" sz="1500" dirty="0"/>
              <a:t> </a:t>
            </a:r>
            <a:r>
              <a:rPr lang="es-ES" sz="1500" dirty="0" err="1"/>
              <a:t>Encryption</a:t>
            </a:r>
            <a:r>
              <a:rPr lang="es-ES" sz="1500" dirty="0"/>
              <a:t> Key (CEK). Mostrar DDL que crea la columna cifrada</a:t>
            </a:r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2. Script de la solución en T-SQL</a:t>
            </a:r>
            <a:endParaRPr lang="en-US" sz="1800" dirty="0"/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7ABF20-E09E-F406-1059-FD3171305792}"/>
              </a:ext>
            </a:extLst>
          </p:cNvPr>
          <p:cNvSpPr txBox="1"/>
          <p:nvPr/>
        </p:nvSpPr>
        <p:spPr>
          <a:xfrm>
            <a:off x="475211" y="2419842"/>
            <a:ext cx="394825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 Crear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Column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 Master Key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CREATE COLUMN MASTER KEY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CMK_Qhatu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WITH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(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KEY_STORE_PROVIDER_NAME = 'MSSQL_CERTIFICATE_STORE',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KEY_PATH = '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CurrentUser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/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My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/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Certificado_CM_Key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'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);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chemeClr val="accent1"/>
              </a:solidFill>
            </a:endParaRPr>
          </a:p>
          <a:p>
            <a:endParaRPr lang="es-ES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7F6FF9-7DE0-9E62-2EC3-2E3ACDD0C52F}"/>
              </a:ext>
            </a:extLst>
          </p:cNvPr>
          <p:cNvSpPr txBox="1"/>
          <p:nvPr/>
        </p:nvSpPr>
        <p:spPr>
          <a:xfrm>
            <a:off x="6269169" y="1587910"/>
            <a:ext cx="5740375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Crear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Column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Encryption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 Key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CREATE COLUMN ENCRYPTION KEY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CEK_Qhatu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WITH VALUES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(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COLUMN_MASTER_KEY =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CMK_Qhatu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ALGORITHM = 'RSA_OAEP',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ENCRYPTED_VALUE = 0x... -- generado automáticamente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);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-- Crear columna cifrada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ALTER TABLE INVENTARIO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ADD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PrecioProveedor_ENC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 decimal(10,2)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COLLATE Latin1_General_BIN2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ENCRYPTED WITH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    (COLUMN_ENCRYPTION_KEY = </a:t>
            </a:r>
            <a:r>
              <a:rPr lang="es-ES" b="1" err="1">
                <a:solidFill>
                  <a:schemeClr val="accent1"/>
                </a:solidFill>
                <a:ea typeface="+mn-lt"/>
                <a:cs typeface="+mn-lt"/>
              </a:rPr>
              <a:t>CEK_Qhatu</a:t>
            </a:r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, ENCRYPTION_TYPE = DETERMINISTIC);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dirty="0">
                <a:solidFill>
                  <a:schemeClr val="accent1"/>
                </a:solidFill>
                <a:ea typeface="+mn-lt"/>
                <a:cs typeface="+mn-lt"/>
              </a:rPr>
              <a:t>GO</a:t>
            </a:r>
            <a:endParaRPr lang="es-ES" b="1" dirty="0">
              <a:solidFill>
                <a:schemeClr val="accent1"/>
              </a:solidFill>
            </a:endParaRPr>
          </a:p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581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AE49E-C39D-D06B-D7EF-59E4B945F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73" y="301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3. Justificación técnica de la solución aplicada</a:t>
            </a:r>
            <a:endParaRPr lang="en-US" sz="1800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Protege datos sensibles en reposo y en memoria, manteniendo confidencialidad incluso si la base es copiada.</a:t>
            </a:r>
            <a:endParaRPr lang="es-ES" dirty="0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Solo aplicaciones con acceso a CEK pueden leer los datos.</a:t>
            </a:r>
            <a:endParaRPr lang="es-ES" dirty="0"/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4. Explicación de las buenas prácticas utilizadas en el proyecto</a:t>
            </a:r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Cifrado a nivel de columna para protección mínima necesaria.</a:t>
            </a:r>
            <a:endParaRPr lang="es-ES"/>
          </a:p>
          <a:p>
            <a:pPr>
              <a:buNone/>
            </a:pPr>
            <a:r>
              <a:rPr lang="es-ES" sz="1800" dirty="0">
                <a:ea typeface="+mn-lt"/>
                <a:cs typeface="+mn-lt"/>
              </a:rPr>
              <a:t>Uso de CMK almacenada en certificado seguro.</a:t>
            </a:r>
            <a:endParaRPr lang="es-ES" dirty="0"/>
          </a:p>
          <a:p>
            <a:pPr>
              <a:buNone/>
            </a:pPr>
            <a:endParaRPr lang="es-ES"/>
          </a:p>
          <a:p>
            <a:pPr>
              <a:buNone/>
            </a:pPr>
            <a:endParaRPr lang="es-ES"/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082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B6CC7-05FE-0F31-5EF1-7574AA48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66" y="42688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500" dirty="0"/>
              <a:t>Proyecto 7: Auditoría de seguridad: crear SQL Server Audit para inicios de sesión y cambios de esquema</a:t>
            </a:r>
          </a:p>
          <a:p>
            <a:pPr>
              <a:buNone/>
            </a:pPr>
            <a:r>
              <a:rPr lang="es-ES" sz="1500" dirty="0"/>
              <a:t>1. Enunciado del ejercicio</a:t>
            </a:r>
          </a:p>
          <a:p>
            <a:pPr marL="0" indent="0">
              <a:buNone/>
            </a:pPr>
            <a:r>
              <a:rPr lang="es-ES" sz="1500" dirty="0"/>
              <a:t>Configurar un Server Audit que registre intentos de </a:t>
            </a:r>
            <a:r>
              <a:rPr lang="es-ES" sz="1500" dirty="0" err="1"/>
              <a:t>login</a:t>
            </a:r>
            <a:r>
              <a:rPr lang="es-ES" sz="1500" dirty="0"/>
              <a:t> fallidos y exitosos, y un </a:t>
            </a:r>
            <a:r>
              <a:rPr lang="es-ES" sz="1500" dirty="0" err="1"/>
              <a:t>Database</a:t>
            </a:r>
            <a:r>
              <a:rPr lang="es-ES" sz="1500" dirty="0"/>
              <a:t> Audit </a:t>
            </a:r>
            <a:r>
              <a:rPr lang="es-ES" sz="1500" dirty="0" err="1"/>
              <a:t>Specification</a:t>
            </a:r>
            <a:r>
              <a:rPr lang="es-ES" sz="1500" dirty="0"/>
              <a:t> que registre cambios DDL en </a:t>
            </a:r>
            <a:r>
              <a:rPr lang="es-ES" sz="1500" dirty="0" err="1"/>
              <a:t>QhatuPeru</a:t>
            </a:r>
            <a:r>
              <a:rPr lang="es-ES" sz="1500" dirty="0"/>
              <a:t> (CREATE/ALTER/DROP para objetos críticos).</a:t>
            </a:r>
          </a:p>
          <a:p>
            <a:pPr>
              <a:buNone/>
            </a:pPr>
            <a:r>
              <a:rPr lang="es-ES" sz="1800" b="1" dirty="0">
                <a:highlight>
                  <a:srgbClr val="FFFF00"/>
                </a:highlight>
              </a:rPr>
              <a:t>2. Script de la solución en T-SQL</a:t>
            </a:r>
            <a:endParaRPr lang="en-US" sz="1800" dirty="0"/>
          </a:p>
          <a:p>
            <a:pPr>
              <a:buNone/>
            </a:pPr>
            <a:endParaRPr lang="es-ES" sz="1800" b="1" dirty="0">
              <a:highlight>
                <a:srgbClr val="FFFF00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0B223C-398B-631B-3D69-2159C26DF731}"/>
              </a:ext>
            </a:extLst>
          </p:cNvPr>
          <p:cNvSpPr txBox="1"/>
          <p:nvPr/>
        </p:nvSpPr>
        <p:spPr>
          <a:xfrm>
            <a:off x="5866383" y="1848120"/>
            <a:ext cx="5712373" cy="44102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46F92C-5028-B9AF-173F-43FE8AEE9955}"/>
              </a:ext>
            </a:extLst>
          </p:cNvPr>
          <p:cNvSpPr txBox="1"/>
          <p:nvPr/>
        </p:nvSpPr>
        <p:spPr>
          <a:xfrm>
            <a:off x="5754376" y="2016131"/>
            <a:ext cx="5628367" cy="43122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9C7A3E-1752-0469-5375-B8A86220AD4F}"/>
              </a:ext>
            </a:extLst>
          </p:cNvPr>
          <p:cNvSpPr txBox="1"/>
          <p:nvPr/>
        </p:nvSpPr>
        <p:spPr>
          <a:xfrm>
            <a:off x="418209" y="2191018"/>
            <a:ext cx="446629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rgbClr val="156082"/>
                </a:solidFill>
              </a:rPr>
              <a:t>--</a:t>
            </a:r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 Crear Server Audit</a:t>
            </a:r>
            <a:endParaRPr lang="es-ES" b="1" dirty="0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CREATE SERVER AUDIT </a:t>
            </a:r>
            <a:r>
              <a:rPr lang="es-ES" b="1" dirty="0" err="1">
                <a:solidFill>
                  <a:srgbClr val="156082"/>
                </a:solidFill>
                <a:ea typeface="+mn-lt"/>
                <a:cs typeface="+mn-lt"/>
              </a:rPr>
              <a:t>Audit_Login</a:t>
            </a:r>
            <a:endParaRPr lang="es-ES" b="1" dirty="0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TO FILE (FILEPATH = 'C:\</a:t>
            </a:r>
            <a:r>
              <a:rPr lang="es-ES" b="1" dirty="0" err="1">
                <a:solidFill>
                  <a:srgbClr val="156082"/>
                </a:solidFill>
                <a:ea typeface="+mn-lt"/>
                <a:cs typeface="+mn-lt"/>
              </a:rPr>
              <a:t>SQLAudits</a:t>
            </a:r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\', MAXSIZE = 10 MB)</a:t>
            </a:r>
            <a:endParaRPr lang="es-ES" b="1" dirty="0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WITH (ON_FAILURE = CONTINUE);</a:t>
            </a:r>
            <a:endParaRPr lang="es-ES" b="1" dirty="0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ALTER SERVER AUDIT </a:t>
            </a:r>
            <a:r>
              <a:rPr lang="es-ES" b="1" dirty="0" err="1">
                <a:solidFill>
                  <a:srgbClr val="156082"/>
                </a:solidFill>
                <a:ea typeface="+mn-lt"/>
                <a:cs typeface="+mn-lt"/>
              </a:rPr>
              <a:t>Audit_Login</a:t>
            </a:r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 WITH (STATE = ON);</a:t>
            </a:r>
            <a:endParaRPr lang="es-ES" b="1" dirty="0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  <a:ea typeface="+mn-lt"/>
                <a:cs typeface="+mn-lt"/>
              </a:rPr>
              <a:t>GO</a:t>
            </a:r>
            <a:endParaRPr lang="es-ES" dirty="0">
              <a:solidFill>
                <a:srgbClr val="156082"/>
              </a:solidFill>
            </a:endParaRPr>
          </a:p>
          <a:p>
            <a:endParaRPr lang="es-ES" dirty="0">
              <a:solidFill>
                <a:srgbClr val="156082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010076-E09E-900A-7D3C-BA1EAEDCB7EE}"/>
              </a:ext>
            </a:extLst>
          </p:cNvPr>
          <p:cNvSpPr txBox="1"/>
          <p:nvPr/>
        </p:nvSpPr>
        <p:spPr>
          <a:xfrm>
            <a:off x="6034394" y="2170141"/>
            <a:ext cx="449429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rgbClr val="156082"/>
                </a:solidFill>
              </a:rPr>
              <a:t>-- Crear </a:t>
            </a:r>
            <a:r>
              <a:rPr lang="es-ES" b="1" dirty="0" err="1">
                <a:solidFill>
                  <a:srgbClr val="156082"/>
                </a:solidFill>
              </a:rPr>
              <a:t>Database</a:t>
            </a:r>
            <a:r>
              <a:rPr lang="es-ES" b="1" dirty="0">
                <a:solidFill>
                  <a:srgbClr val="156082"/>
                </a:solidFill>
              </a:rPr>
              <a:t> Audit </a:t>
            </a:r>
            <a:r>
              <a:rPr lang="es-ES" b="1" dirty="0" err="1">
                <a:solidFill>
                  <a:srgbClr val="156082"/>
                </a:solidFill>
              </a:rPr>
              <a:t>Specification</a:t>
            </a:r>
            <a:endParaRPr lang="es-ES" b="1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</a:rPr>
              <a:t>USE </a:t>
            </a:r>
            <a:r>
              <a:rPr lang="es-ES" b="1" dirty="0" err="1">
                <a:solidFill>
                  <a:srgbClr val="156082"/>
                </a:solidFill>
              </a:rPr>
              <a:t>QhatuPeru</a:t>
            </a:r>
            <a:r>
              <a:rPr lang="es-ES" b="1" dirty="0">
                <a:solidFill>
                  <a:srgbClr val="156082"/>
                </a:solidFill>
              </a:rPr>
              <a:t>;</a:t>
            </a:r>
            <a:endParaRPr lang="es-ES" b="1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</a:rPr>
              <a:t>GO</a:t>
            </a:r>
            <a:endParaRPr lang="es-ES" b="1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</a:rPr>
              <a:t>CREATE DATABASE AUDIT SPECIFICATION </a:t>
            </a:r>
            <a:r>
              <a:rPr lang="es-ES" b="1" dirty="0" err="1">
                <a:solidFill>
                  <a:srgbClr val="156082"/>
                </a:solidFill>
              </a:rPr>
              <a:t>Audit_DDL</a:t>
            </a:r>
            <a:endParaRPr lang="es-ES" b="1">
              <a:solidFill>
                <a:srgbClr val="156082"/>
              </a:solidFill>
            </a:endParaRPr>
          </a:p>
          <a:p>
            <a:r>
              <a:rPr lang="es-ES" b="1" dirty="0">
                <a:solidFill>
                  <a:srgbClr val="156082"/>
                </a:solidFill>
              </a:rPr>
              <a:t>FOR SERVER AUDIT Audit_Login</a:t>
            </a:r>
          </a:p>
          <a:p>
            <a:r>
              <a:rPr lang="es-ES" b="1" dirty="0">
                <a:solidFill>
                  <a:srgbClr val="156082"/>
                </a:solidFill>
              </a:rPr>
              <a:t>ADD (SCHEMA_OBJECT_CHANGE_GROUP),</a:t>
            </a:r>
          </a:p>
          <a:p>
            <a:r>
              <a:rPr lang="es-ES" b="1" dirty="0">
                <a:solidFill>
                  <a:srgbClr val="156082"/>
                </a:solidFill>
              </a:rPr>
              <a:t>ADD (DATABASE_OBJECT_PERMISSION_CHANGE_GROUP)</a:t>
            </a:r>
          </a:p>
          <a:p>
            <a:r>
              <a:rPr lang="es-ES" b="1" dirty="0">
                <a:solidFill>
                  <a:srgbClr val="156082"/>
                </a:solidFill>
              </a:rPr>
              <a:t>WITH (STATE = ON);</a:t>
            </a:r>
          </a:p>
          <a:p>
            <a:r>
              <a:rPr lang="es-ES" b="1" dirty="0">
                <a:solidFill>
                  <a:srgbClr val="156082"/>
                </a:solidFill>
              </a:rPr>
              <a:t>GO</a:t>
            </a:r>
          </a:p>
          <a:p>
            <a:pPr algn="l"/>
            <a:endParaRPr lang="es-ES" b="1" dirty="0">
              <a:solidFill>
                <a:srgbClr val="1560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611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FF3C1-AFF8-F227-1F50-1DAD8406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B8FBB-6573-25AD-21A3-D8C162534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89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400" b="1" dirty="0">
                <a:highlight>
                  <a:srgbClr val="FFFF00"/>
                </a:highlight>
              </a:rPr>
              <a:t>3. Justificación técnica de la solución aplicada</a:t>
            </a:r>
            <a:endParaRPr lang="en-US" sz="1400" dirty="0"/>
          </a:p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Monitorea accesos y cambios críticos, proporcionando trazabilidad y detección de incidentes.</a:t>
            </a:r>
            <a:endParaRPr lang="es-ES" sz="1400" dirty="0"/>
          </a:p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Diferencia entre </a:t>
            </a:r>
            <a:r>
              <a:rPr lang="es-ES" sz="1400" err="1">
                <a:ea typeface="+mn-lt"/>
                <a:cs typeface="+mn-lt"/>
              </a:rPr>
              <a:t>login</a:t>
            </a:r>
            <a:r>
              <a:rPr lang="es-ES" sz="1400" dirty="0">
                <a:ea typeface="+mn-lt"/>
                <a:cs typeface="+mn-lt"/>
              </a:rPr>
              <a:t> al servidor y cambios de objetos dentro de la base.</a:t>
            </a:r>
            <a:endParaRPr lang="es-ES" sz="1400" dirty="0"/>
          </a:p>
          <a:p>
            <a:pPr>
              <a:buNone/>
            </a:pPr>
            <a:endParaRPr lang="es-ES" sz="1400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sz="1400" b="1" dirty="0">
                <a:highlight>
                  <a:srgbClr val="FFFF00"/>
                </a:highlight>
              </a:rPr>
              <a:t>4. Explicación de las buenas prácticas utilizadas en el proyecto</a:t>
            </a:r>
          </a:p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Auditoría continua y centralizada.</a:t>
            </a:r>
            <a:endParaRPr lang="es-ES" sz="1400" dirty="0"/>
          </a:p>
          <a:p>
            <a:pPr>
              <a:buNone/>
            </a:pPr>
            <a:r>
              <a:rPr lang="es-ES" sz="1400" dirty="0">
                <a:ea typeface="+mn-lt"/>
                <a:cs typeface="+mn-lt"/>
              </a:rPr>
              <a:t>Separación entre logs de servidor y base de datos.</a:t>
            </a:r>
            <a:endParaRPr lang="es-ES" sz="1400" dirty="0"/>
          </a:p>
          <a:p>
            <a:pPr>
              <a:buNone/>
            </a:pPr>
            <a:r>
              <a:rPr lang="es-ES" sz="1400">
                <a:ea typeface="+mn-lt"/>
                <a:cs typeface="+mn-lt"/>
              </a:rPr>
              <a:t>Evita modificaciones no autorizadas y facilita auditoría de seguridad.</a:t>
            </a:r>
            <a:endParaRPr lang="es-ES" sz="1400"/>
          </a:p>
          <a:p>
            <a:pPr>
              <a:buNone/>
            </a:pPr>
            <a:endParaRPr lang="es-ES" sz="1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47483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Tema de Office</vt:lpstr>
      <vt:lpstr>S11_Practica</vt:lpstr>
      <vt:lpstr>Presentación de PowerPoint</vt:lpstr>
      <vt:lpstr>Crea un login de Windows válido CREATE LOGIN [lab04-pc18\user 1] FROM WINDOWS; GO  </vt:lpstr>
      <vt:lpstr>Comprobar la política de contraseñas SELECT name, is_policy_checked, is_expiration_checked FROM sys.sql_logins WHERE name = 'login_sql_alumno'; GO </vt:lpstr>
      <vt:lpstr> 4. Explicación de las buenas prácticas utilizadas en el proyecto Separación de logins y usuarios de base de datos Mantener la autenticación a nivel de servidor (LOGIN) y el acceso a nivel de base (USER) separados permite controlar permisos de manera granular y segura. Uso de políticas de contraseña CHECK_POLICY y CHECK_EXPIRATION garantizan que las contraseñas cumplan con estándares de seguridad y se renueven periódicamente. MUST_CHANGE permite simular y probar la expiración obligatoria, fomentando hábitos seguros de gestión de contraseñas. Validación de existencia antes de crear objetos Se utilizaron IF EXISTS y IF NOT EXISTS para evitar errores de creación de usuarios o logins que ya existen. Esto asegura que los scripts sean idempotentes y puedan ejecutarse varias veces sin fallar. Simulación de usuarios de Windows Usar un login de Windows real o simulado permite practicar escenarios de integración con dominios y autenticación externa, acercando la práctica a entornos reales. Documentación y trazabilidad Cada paso del script está comentado y justificado, lo que facilita mantenimiento y auditoría de seguridad.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412</cp:revision>
  <dcterms:created xsi:type="dcterms:W3CDTF">2025-11-13T14:32:00Z</dcterms:created>
  <dcterms:modified xsi:type="dcterms:W3CDTF">2025-11-14T03:47:19Z</dcterms:modified>
</cp:coreProperties>
</file>